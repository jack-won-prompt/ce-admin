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F33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228600" cy="1828800"/>
          </a:xfrm>
          <a:prstGeom prst="rect">
            <a:avLst/>
          </a:prstGeom>
          <a:solidFill>
            <a:srgbClr val="736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2743200"/>
            <a:ext cx="73152" cy="1828800"/>
          </a:xfrm>
          <a:prstGeom prst="rect">
            <a:avLst/>
          </a:prstGeom>
          <a:solidFill>
            <a:srgbClr val="9E9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0" b="1" i="0">
                <a:solidFill>
                  <a:srgbClr val="FFFFFF"/>
                </a:solidFill>
                <a:latin typeface="Malgun Gothic"/>
              </a:rPr>
              <a:t>CE-ADMIN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B0ABF8"/>
                </a:solidFill>
                <a:latin typeface="Malgun Gothic"/>
              </a:rPr>
              <a:t>처방전 통합 관리 시스템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429000"/>
            <a:ext cx="4572000" cy="45720"/>
          </a:xfrm>
          <a:prstGeom prst="rect">
            <a:avLst/>
          </a:prstGeom>
          <a:solidFill>
            <a:srgbClr val="736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611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Malgun Gothic"/>
              </a:rPr>
              <a:t>PoC 시연 시나리오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062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6E6B7B"/>
                </a:solidFill>
                <a:latin typeface="Malgun Gothic"/>
              </a:rPr>
              <a:t>2026년 5월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01200" y="457200"/>
            <a:ext cx="2286000" cy="2286000"/>
          </a:xfrm>
          <a:prstGeom prst="rect">
            <a:avLst/>
          </a:prstGeom>
          <a:solidFill>
            <a:srgbClr val="5E5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241280" y="1097280"/>
            <a:ext cx="1828800" cy="1828800"/>
          </a:xfrm>
          <a:prstGeom prst="rect">
            <a:avLst/>
          </a:prstGeom>
          <a:solidFill>
            <a:srgbClr val="736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0" y="1188720"/>
            <a:ext cx="1645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0" i="0">
                <a:solidFill>
                  <a:srgbClr val="FFFFFF"/>
                </a:solidFill>
                <a:latin typeface="Malgun Gothic"/>
              </a:rPr>
              <a:t>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5760720"/>
            <a:ext cx="1554480" cy="457200"/>
          </a:xfrm>
          <a:prstGeom prst="rect">
            <a:avLst/>
          </a:prstGeom>
          <a:solidFill>
            <a:srgbClr val="5E5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58064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algun Gothic"/>
              </a:rPr>
              <a:t>AI OCR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06040" y="5760720"/>
            <a:ext cx="1554480" cy="457200"/>
          </a:xfrm>
          <a:prstGeom prst="rect">
            <a:avLst/>
          </a:prstGeom>
          <a:solidFill>
            <a:srgbClr val="5E5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51760" y="58064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algun Gothic"/>
              </a:rPr>
              <a:t>처방전 관리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5760720"/>
            <a:ext cx="1554480" cy="457200"/>
          </a:xfrm>
          <a:prstGeom prst="rect">
            <a:avLst/>
          </a:prstGeom>
          <a:solidFill>
            <a:srgbClr val="5E5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43400" y="58064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algun Gothic"/>
              </a:rPr>
              <a:t>TodoWorks API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89320" y="5760720"/>
            <a:ext cx="1554480" cy="457200"/>
          </a:xfrm>
          <a:prstGeom prst="rect">
            <a:avLst/>
          </a:prstGeom>
          <a:solidFill>
            <a:srgbClr val="5E5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35040" y="58064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algun Gothic"/>
              </a:rPr>
              <a:t>Popbill API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80960" y="5760720"/>
            <a:ext cx="1554480" cy="457200"/>
          </a:xfrm>
          <a:prstGeom prst="rect">
            <a:avLst/>
          </a:prstGeom>
          <a:solidFill>
            <a:srgbClr val="5E5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26680" y="58064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algun Gothic"/>
              </a:rPr>
              <a:t>배송 추적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736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algun Gothic"/>
              </a:rPr>
              <a:t>전체 시연 흐름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CCFF"/>
                </a:solidFill>
                <a:latin typeface="Malgun Gothic"/>
              </a:rPr>
              <a:t>End-to-End 처방전 처리 프로세스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5E5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371600"/>
            <a:ext cx="987552" cy="1005840"/>
          </a:xfrm>
          <a:prstGeom prst="rect">
            <a:avLst/>
          </a:prstGeom>
          <a:solidFill>
            <a:srgbClr val="736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371600"/>
            <a:ext cx="987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Malgun Gothic"/>
              </a:rPr>
              <a:t>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737360"/>
            <a:ext cx="987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algun Gothic"/>
              </a:rPr>
              <a:t>처방전
등록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07592" y="1691640"/>
            <a:ext cx="201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7367F0"/>
                </a:solidFill>
                <a:latin typeface="Malgun Gothic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08760" y="1371600"/>
            <a:ext cx="987552" cy="1005840"/>
          </a:xfrm>
          <a:prstGeom prst="rect">
            <a:avLst/>
          </a:prstGeom>
          <a:solidFill>
            <a:srgbClr val="00C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08760" y="1371600"/>
            <a:ext cx="987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Malgun Gothic"/>
              </a:rPr>
              <a:t>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1737360"/>
            <a:ext cx="987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algun Gothic"/>
              </a:rPr>
              <a:t>AI OCR
판독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96312" y="1691640"/>
            <a:ext cx="201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7367F0"/>
                </a:solidFill>
                <a:latin typeface="Malgun Gothic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97480" y="1371600"/>
            <a:ext cx="987552" cy="1005840"/>
          </a:xfrm>
          <a:prstGeom prst="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97480" y="1371600"/>
            <a:ext cx="987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Malgun Gothic"/>
              </a:rPr>
              <a:t>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1737360"/>
            <a:ext cx="987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algun Gothic"/>
              </a:rPr>
              <a:t>수기
검증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85032" y="1691640"/>
            <a:ext cx="201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7367F0"/>
                </a:solidFill>
                <a:latin typeface="Malgun Gothic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86200" y="1371600"/>
            <a:ext cx="987552" cy="1005840"/>
          </a:xfrm>
          <a:prstGeom prst="rect">
            <a:avLst/>
          </a:prstGeom>
          <a:solidFill>
            <a:srgbClr val="28C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86200" y="1371600"/>
            <a:ext cx="987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Malgun Gothic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86200" y="1737360"/>
            <a:ext cx="987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algun Gothic"/>
              </a:rPr>
              <a:t>주소
입력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73752" y="1691640"/>
            <a:ext cx="201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7367F0"/>
                </a:solidFill>
                <a:latin typeface="Malgun Gothic"/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74920" y="1371600"/>
            <a:ext cx="987552" cy="1005840"/>
          </a:xfrm>
          <a:prstGeom prst="rect">
            <a:avLst/>
          </a:prstGeom>
          <a:solidFill>
            <a:srgbClr val="736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74920" y="1371600"/>
            <a:ext cx="987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Malgun Gothic"/>
              </a:rPr>
              <a:t>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74920" y="1737360"/>
            <a:ext cx="987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algun Gothic"/>
              </a:rPr>
              <a:t>제품
조회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62472" y="1691640"/>
            <a:ext cx="201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7367F0"/>
                </a:solidFill>
                <a:latin typeface="Malgun Gothic"/>
              </a:rP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63640" y="1371600"/>
            <a:ext cx="987552" cy="1005840"/>
          </a:xfrm>
          <a:prstGeom prst="rect">
            <a:avLst/>
          </a:prstGeom>
          <a:solidFill>
            <a:srgbClr val="00C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1371600"/>
            <a:ext cx="987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Malgun Gothic"/>
              </a:rPr>
              <a:t>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640" y="1737360"/>
            <a:ext cx="987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algun Gothic"/>
              </a:rPr>
              <a:t>주문
확인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51192" y="1691640"/>
            <a:ext cx="201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7367F0"/>
                </a:solidFill>
                <a:latin typeface="Malgun Gothic"/>
              </a:rPr>
              <a:t>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452360" y="1371600"/>
            <a:ext cx="987552" cy="1005840"/>
          </a:xfrm>
          <a:prstGeom prst="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52360" y="1371600"/>
            <a:ext cx="987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Malgun Gothic"/>
              </a:rPr>
              <a:t>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52360" y="1737360"/>
            <a:ext cx="987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algun Gothic"/>
              </a:rPr>
              <a:t>입금
확인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39912" y="1691640"/>
            <a:ext cx="201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7367F0"/>
                </a:solidFill>
                <a:latin typeface="Malgun Gothic"/>
              </a:rPr>
              <a:t>→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641080" y="1371600"/>
            <a:ext cx="987552" cy="1005840"/>
          </a:xfrm>
          <a:prstGeom prst="rect">
            <a:avLst/>
          </a:prstGeom>
          <a:solidFill>
            <a:srgbClr val="28C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41080" y="1371600"/>
            <a:ext cx="987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Malgun Gothic"/>
              </a:rPr>
              <a:t>⑧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41080" y="1737360"/>
            <a:ext cx="987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algun Gothic"/>
              </a:rPr>
              <a:t>현금영수증
발행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28632" y="1691640"/>
            <a:ext cx="201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7367F0"/>
                </a:solidFill>
                <a:latin typeface="Malgun Gothic"/>
              </a:rPr>
              <a:t>→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829800" y="1371600"/>
            <a:ext cx="987552" cy="1005840"/>
          </a:xfrm>
          <a:prstGeom prst="rect">
            <a:avLst/>
          </a:prstGeom>
          <a:solidFill>
            <a:srgbClr val="736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829800" y="1371600"/>
            <a:ext cx="987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Malgun Gothic"/>
              </a:rPr>
              <a:t>⑨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829800" y="1737360"/>
            <a:ext cx="987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algun Gothic"/>
              </a:rPr>
              <a:t>세금계산서
발행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817352" y="1691640"/>
            <a:ext cx="201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7367F0"/>
                </a:solidFill>
                <a:latin typeface="Malgun Gothic"/>
              </a:rPr>
              <a:t>→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1018520" y="1371600"/>
            <a:ext cx="987552" cy="1005840"/>
          </a:xfrm>
          <a:prstGeom prst="rect">
            <a:avLst/>
          </a:prstGeom>
          <a:solidFill>
            <a:srgbClr val="EA5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018520" y="1371600"/>
            <a:ext cx="987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Malgun Gothic"/>
              </a:rPr>
              <a:t>⑩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018520" y="1737360"/>
            <a:ext cx="987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algun Gothic"/>
              </a:rPr>
              <a:t>전자팩스
전송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20040" y="2834640"/>
            <a:ext cx="11887200" cy="54864"/>
          </a:xfrm>
          <a:prstGeom prst="rect">
            <a:avLst/>
          </a:prstGeom>
          <a:solidFill>
            <a:srgbClr val="D0C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20040" y="30175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E6B7B"/>
                </a:solidFill>
                <a:latin typeface="Malgun Gothic"/>
              </a:rPr>
              <a:t>⑩ 전자팩스 → 배송완료까지 전체 흐름 확인 가능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0040" y="3611880"/>
            <a:ext cx="1097280" cy="347472"/>
          </a:xfrm>
          <a:prstGeom prst="rect">
            <a:avLst/>
          </a:prstGeom>
          <a:solidFill>
            <a:srgbClr val="736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65759" y="3648456"/>
            <a:ext cx="1005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algun Gothic"/>
              </a:rPr>
              <a:t>단계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463040" y="3611880"/>
            <a:ext cx="3200400" cy="347472"/>
          </a:xfrm>
          <a:prstGeom prst="rect">
            <a:avLst/>
          </a:prstGeom>
          <a:solidFill>
            <a:srgbClr val="736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508760" y="3648456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algun Gothic"/>
              </a:rPr>
              <a:t>기능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754880" y="3611880"/>
            <a:ext cx="3200400" cy="347472"/>
          </a:xfrm>
          <a:prstGeom prst="rect">
            <a:avLst/>
          </a:prstGeom>
          <a:solidFill>
            <a:srgbClr val="736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800600" y="3648456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algun Gothic"/>
              </a:rPr>
              <a:t>연계 시스템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046720" y="3611880"/>
            <a:ext cx="2286000" cy="347472"/>
          </a:xfrm>
          <a:prstGeom prst="rect">
            <a:avLst/>
          </a:prstGeom>
          <a:solidFill>
            <a:srgbClr val="736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092440" y="3648456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algun Gothic"/>
              </a:rPr>
              <a:t>비고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20040" y="3959352"/>
            <a:ext cx="1097280" cy="347472"/>
          </a:xfrm>
          <a:prstGeom prst="rect">
            <a:avLst/>
          </a:prstGeom>
          <a:solidFill>
            <a:srgbClr val="FFFFFF"/>
          </a:solidFill>
          <a:ln>
            <a:solidFill>
              <a:srgbClr val="E0D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65759" y="3995928"/>
            <a:ext cx="1005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F3349"/>
                </a:solidFill>
                <a:latin typeface="Malgun Gothic"/>
              </a:rPr>
              <a:t>①~②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463040" y="3959352"/>
            <a:ext cx="3200400" cy="347472"/>
          </a:xfrm>
          <a:prstGeom prst="rect">
            <a:avLst/>
          </a:prstGeom>
          <a:solidFill>
            <a:srgbClr val="FFFFFF"/>
          </a:solidFill>
          <a:ln>
            <a:solidFill>
              <a:srgbClr val="E0D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508760" y="3995928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F3349"/>
                </a:solidFill>
                <a:latin typeface="Malgun Gothic"/>
              </a:rPr>
              <a:t>처방전 등록 + AI OCR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754880" y="3959352"/>
            <a:ext cx="3200400" cy="347472"/>
          </a:xfrm>
          <a:prstGeom prst="rect">
            <a:avLst/>
          </a:prstGeom>
          <a:solidFill>
            <a:srgbClr val="FFFFFF"/>
          </a:solidFill>
          <a:ln>
            <a:solidFill>
              <a:srgbClr val="E0D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800600" y="3995928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F3349"/>
                </a:solidFill>
                <a:latin typeface="Malgun Gothic"/>
              </a:rPr>
              <a:t>모바일 앱 / 카메라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046720" y="3959352"/>
            <a:ext cx="2286000" cy="347472"/>
          </a:xfrm>
          <a:prstGeom prst="rect">
            <a:avLst/>
          </a:prstGeom>
          <a:solidFill>
            <a:srgbClr val="FFFFFF"/>
          </a:solidFill>
          <a:ln>
            <a:solidFill>
              <a:srgbClr val="E0D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092440" y="399592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F3349"/>
                </a:solidFill>
                <a:latin typeface="Malgun Gothic"/>
              </a:rPr>
              <a:t/>
            </a:r>
          </a:p>
        </p:txBody>
      </p:sp>
      <p:sp>
        <p:nvSpPr>
          <p:cNvPr id="64" name="Rectangle 63"/>
          <p:cNvSpPr/>
          <p:nvPr/>
        </p:nvSpPr>
        <p:spPr>
          <a:xfrm>
            <a:off x="320040" y="4306824"/>
            <a:ext cx="1097280" cy="347472"/>
          </a:xfrm>
          <a:prstGeom prst="rect">
            <a:avLst/>
          </a:prstGeom>
          <a:solidFill>
            <a:srgbClr val="F8F7FA"/>
          </a:solidFill>
          <a:ln>
            <a:solidFill>
              <a:srgbClr val="E0D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65759" y="4343400"/>
            <a:ext cx="1005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F3349"/>
                </a:solidFill>
                <a:latin typeface="Malgun Gothic"/>
              </a:rPr>
              <a:t>③~④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463040" y="4306824"/>
            <a:ext cx="3200400" cy="347472"/>
          </a:xfrm>
          <a:prstGeom prst="rect">
            <a:avLst/>
          </a:prstGeom>
          <a:solidFill>
            <a:srgbClr val="F8F7FA"/>
          </a:solidFill>
          <a:ln>
            <a:solidFill>
              <a:srgbClr val="E0D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508760" y="43434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F3349"/>
                </a:solidFill>
                <a:latin typeface="Malgun Gothic"/>
              </a:rPr>
              <a:t>수기 검증 + 주소입력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754880" y="4306824"/>
            <a:ext cx="3200400" cy="347472"/>
          </a:xfrm>
          <a:prstGeom prst="rect">
            <a:avLst/>
          </a:prstGeom>
          <a:solidFill>
            <a:srgbClr val="F8F7FA"/>
          </a:solidFill>
          <a:ln>
            <a:solidFill>
              <a:srgbClr val="E0D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800600" y="43434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F3349"/>
                </a:solidFill>
                <a:latin typeface="Malgun Gothic"/>
              </a:rPr>
              <a:t>CE-Admin 웹 화면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046720" y="4306824"/>
            <a:ext cx="2286000" cy="347472"/>
          </a:xfrm>
          <a:prstGeom prst="rect">
            <a:avLst/>
          </a:prstGeom>
          <a:solidFill>
            <a:srgbClr val="F8F7FA"/>
          </a:solidFill>
          <a:ln>
            <a:solidFill>
              <a:srgbClr val="E0D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092440" y="43434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F3349"/>
                </a:solidFill>
                <a:latin typeface="Malgun Gothic"/>
              </a:rPr>
              <a:t/>
            </a:r>
          </a:p>
        </p:txBody>
      </p:sp>
      <p:sp>
        <p:nvSpPr>
          <p:cNvPr id="72" name="Rectangle 71"/>
          <p:cNvSpPr/>
          <p:nvPr/>
        </p:nvSpPr>
        <p:spPr>
          <a:xfrm>
            <a:off x="320040" y="4654296"/>
            <a:ext cx="1097280" cy="347472"/>
          </a:xfrm>
          <a:prstGeom prst="rect">
            <a:avLst/>
          </a:prstGeom>
          <a:solidFill>
            <a:srgbClr val="FFFFFF"/>
          </a:solidFill>
          <a:ln>
            <a:solidFill>
              <a:srgbClr val="E0D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65759" y="4690872"/>
            <a:ext cx="1005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F3349"/>
                </a:solidFill>
                <a:latin typeface="Malgun Gothic"/>
              </a:rPr>
              <a:t>⑤~⑥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463040" y="4654296"/>
            <a:ext cx="3200400" cy="347472"/>
          </a:xfrm>
          <a:prstGeom prst="rect">
            <a:avLst/>
          </a:prstGeom>
          <a:solidFill>
            <a:srgbClr val="FFFFFF"/>
          </a:solidFill>
          <a:ln>
            <a:solidFill>
              <a:srgbClr val="E0D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508760" y="469087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F3349"/>
                </a:solidFill>
                <a:latin typeface="Malgun Gothic"/>
              </a:rPr>
              <a:t>제품 조회 + 주문 확인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754880" y="4654296"/>
            <a:ext cx="3200400" cy="347472"/>
          </a:xfrm>
          <a:prstGeom prst="rect">
            <a:avLst/>
          </a:prstGeom>
          <a:solidFill>
            <a:srgbClr val="FFFFFF"/>
          </a:solidFill>
          <a:ln>
            <a:solidFill>
              <a:srgbClr val="E0D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800600" y="469087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F3349"/>
                </a:solidFill>
                <a:latin typeface="Malgun Gothic"/>
              </a:rPr>
              <a:t>TodoWorks 판매주문 API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046720" y="4654296"/>
            <a:ext cx="2286000" cy="347472"/>
          </a:xfrm>
          <a:prstGeom prst="rect">
            <a:avLst/>
          </a:prstGeom>
          <a:solidFill>
            <a:srgbClr val="FFFFFF"/>
          </a:solidFill>
          <a:ln>
            <a:solidFill>
              <a:srgbClr val="E0D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092440" y="469087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F3349"/>
                </a:solidFill>
                <a:latin typeface="Malgun Gothic"/>
              </a:rPr>
              <a:t/>
            </a:r>
          </a:p>
        </p:txBody>
      </p:sp>
      <p:sp>
        <p:nvSpPr>
          <p:cNvPr id="80" name="Rectangle 79"/>
          <p:cNvSpPr/>
          <p:nvPr/>
        </p:nvSpPr>
        <p:spPr>
          <a:xfrm>
            <a:off x="320040" y="5001768"/>
            <a:ext cx="1097280" cy="347472"/>
          </a:xfrm>
          <a:prstGeom prst="rect">
            <a:avLst/>
          </a:prstGeom>
          <a:solidFill>
            <a:srgbClr val="F8F7FA"/>
          </a:solidFill>
          <a:ln>
            <a:solidFill>
              <a:srgbClr val="E0D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365759" y="5038344"/>
            <a:ext cx="1005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F3349"/>
                </a:solidFill>
                <a:latin typeface="Malgun Gothic"/>
              </a:rPr>
              <a:t>⑦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463040" y="5001768"/>
            <a:ext cx="3200400" cy="347472"/>
          </a:xfrm>
          <a:prstGeom prst="rect">
            <a:avLst/>
          </a:prstGeom>
          <a:solidFill>
            <a:srgbClr val="F8F7FA"/>
          </a:solidFill>
          <a:ln>
            <a:solidFill>
              <a:srgbClr val="E0D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508760" y="5038344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F3349"/>
                </a:solidFill>
                <a:latin typeface="Malgun Gothic"/>
              </a:rPr>
              <a:t>입금 확인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754880" y="5001768"/>
            <a:ext cx="3200400" cy="347472"/>
          </a:xfrm>
          <a:prstGeom prst="rect">
            <a:avLst/>
          </a:prstGeom>
          <a:solidFill>
            <a:srgbClr val="F8F7FA"/>
          </a:solidFill>
          <a:ln>
            <a:solidFill>
              <a:srgbClr val="E0D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800600" y="5038344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F3349"/>
                </a:solidFill>
                <a:latin typeface="Malgun Gothic"/>
              </a:rPr>
              <a:t>내부 처리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046720" y="5001768"/>
            <a:ext cx="2286000" cy="347472"/>
          </a:xfrm>
          <a:prstGeom prst="rect">
            <a:avLst/>
          </a:prstGeom>
          <a:solidFill>
            <a:srgbClr val="F8F7FA"/>
          </a:solidFill>
          <a:ln>
            <a:solidFill>
              <a:srgbClr val="E0D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092440" y="5038344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A5455"/>
                </a:solidFill>
                <a:latin typeface="Malgun Gothic"/>
              </a:rPr>
              <a:t>미시연 (연계 준비중)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20040" y="5349240"/>
            <a:ext cx="1097280" cy="347472"/>
          </a:xfrm>
          <a:prstGeom prst="rect">
            <a:avLst/>
          </a:prstGeom>
          <a:solidFill>
            <a:srgbClr val="FFFFFF"/>
          </a:solidFill>
          <a:ln>
            <a:solidFill>
              <a:srgbClr val="E0D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365759" y="5385816"/>
            <a:ext cx="1005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F3349"/>
                </a:solidFill>
                <a:latin typeface="Malgun Gothic"/>
              </a:rPr>
              <a:t>⑧~⑨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463040" y="5349240"/>
            <a:ext cx="3200400" cy="347472"/>
          </a:xfrm>
          <a:prstGeom prst="rect">
            <a:avLst/>
          </a:prstGeom>
          <a:solidFill>
            <a:srgbClr val="FFFFFF"/>
          </a:solidFill>
          <a:ln>
            <a:solidFill>
              <a:srgbClr val="E0D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508760" y="5385816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F3349"/>
                </a:solidFill>
                <a:latin typeface="Malgun Gothic"/>
              </a:rPr>
              <a:t>현금영수증 / 세금계산서</a:t>
            </a:r>
          </a:p>
        </p:txBody>
      </p:sp>
      <p:sp>
        <p:nvSpPr>
          <p:cNvPr id="92" name="Rectangle 91"/>
          <p:cNvSpPr/>
          <p:nvPr/>
        </p:nvSpPr>
        <p:spPr>
          <a:xfrm>
            <a:off x="4754880" y="5349240"/>
            <a:ext cx="3200400" cy="347472"/>
          </a:xfrm>
          <a:prstGeom prst="rect">
            <a:avLst/>
          </a:prstGeom>
          <a:solidFill>
            <a:srgbClr val="FFFFFF"/>
          </a:solidFill>
          <a:ln>
            <a:solidFill>
              <a:srgbClr val="E0D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800600" y="5385816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F3349"/>
                </a:solidFill>
                <a:latin typeface="Malgun Gothic"/>
              </a:rPr>
              <a:t>Popbill API</a:t>
            </a:r>
          </a:p>
        </p:txBody>
      </p:sp>
      <p:sp>
        <p:nvSpPr>
          <p:cNvPr id="94" name="Rectangle 93"/>
          <p:cNvSpPr/>
          <p:nvPr/>
        </p:nvSpPr>
        <p:spPr>
          <a:xfrm>
            <a:off x="8046720" y="5349240"/>
            <a:ext cx="2286000" cy="347472"/>
          </a:xfrm>
          <a:prstGeom prst="rect">
            <a:avLst/>
          </a:prstGeom>
          <a:solidFill>
            <a:srgbClr val="FFFFFF"/>
          </a:solidFill>
          <a:ln>
            <a:solidFill>
              <a:srgbClr val="E0D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8092440" y="5385816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F3349"/>
                </a:solidFill>
                <a:latin typeface="Malgun Gothic"/>
              </a:rPr>
              <a:t/>
            </a:r>
          </a:p>
        </p:txBody>
      </p:sp>
      <p:sp>
        <p:nvSpPr>
          <p:cNvPr id="96" name="Rectangle 95"/>
          <p:cNvSpPr/>
          <p:nvPr/>
        </p:nvSpPr>
        <p:spPr>
          <a:xfrm>
            <a:off x="320040" y="5696712"/>
            <a:ext cx="1097280" cy="347472"/>
          </a:xfrm>
          <a:prstGeom prst="rect">
            <a:avLst/>
          </a:prstGeom>
          <a:solidFill>
            <a:srgbClr val="F8F7FA"/>
          </a:solidFill>
          <a:ln>
            <a:solidFill>
              <a:srgbClr val="E0D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365759" y="5733288"/>
            <a:ext cx="1005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F3349"/>
                </a:solidFill>
                <a:latin typeface="Malgun Gothic"/>
              </a:rPr>
              <a:t>⑩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463040" y="5696712"/>
            <a:ext cx="3200400" cy="347472"/>
          </a:xfrm>
          <a:prstGeom prst="rect">
            <a:avLst/>
          </a:prstGeom>
          <a:solidFill>
            <a:srgbClr val="F8F7FA"/>
          </a:solidFill>
          <a:ln>
            <a:solidFill>
              <a:srgbClr val="E0D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1508760" y="5733288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F3349"/>
                </a:solidFill>
                <a:latin typeface="Malgun Gothic"/>
              </a:rPr>
              <a:t>보험공단 전자팩스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754880" y="5696712"/>
            <a:ext cx="3200400" cy="347472"/>
          </a:xfrm>
          <a:prstGeom prst="rect">
            <a:avLst/>
          </a:prstGeom>
          <a:solidFill>
            <a:srgbClr val="F8F7FA"/>
          </a:solidFill>
          <a:ln>
            <a:solidFill>
              <a:srgbClr val="E0D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800600" y="5733288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F3349"/>
                </a:solidFill>
                <a:latin typeface="Malgun Gothic"/>
              </a:rPr>
              <a:t>Popbill 팩스 API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8046720" y="5696712"/>
            <a:ext cx="2286000" cy="347472"/>
          </a:xfrm>
          <a:prstGeom prst="rect">
            <a:avLst/>
          </a:prstGeom>
          <a:solidFill>
            <a:srgbClr val="F8F7FA"/>
          </a:solidFill>
          <a:ln>
            <a:solidFill>
              <a:srgbClr val="E0D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8092440" y="573328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F3349"/>
                </a:solidFill>
                <a:latin typeface="Malgun Gothic"/>
              </a:rPr>
              <a:t/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736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82880"/>
            <a:ext cx="59436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64592"/>
            <a:ext cx="594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7367F0"/>
                </a:solidFill>
                <a:latin typeface="Malgun Gothic"/>
              </a:rPr>
              <a:t>STEP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3716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algun Gothic"/>
              </a:rPr>
              <a:t>처방전 등록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CCFF"/>
                </a:solidFill>
                <a:latin typeface="Malgun Gothic"/>
              </a:rPr>
              <a:t>모바일 앱으로 처방전 사진 촬영 및 업로드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5E5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280160"/>
            <a:ext cx="2560320" cy="4937760"/>
          </a:xfrm>
          <a:prstGeom prst="rect">
            <a:avLst/>
          </a:prstGeom>
          <a:solidFill>
            <a:srgbClr val="2F33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1463040"/>
            <a:ext cx="2286000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554480" y="1417320"/>
            <a:ext cx="548640" cy="109728"/>
          </a:xfrm>
          <a:prstGeom prst="rect">
            <a:avLst/>
          </a:prstGeom>
          <a:solidFill>
            <a:srgbClr val="6E6B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4360" y="1463040"/>
            <a:ext cx="2286000" cy="502920"/>
          </a:xfrm>
          <a:prstGeom prst="rect">
            <a:avLst/>
          </a:prstGeom>
          <a:solidFill>
            <a:srgbClr val="736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1536192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algun Gothic"/>
              </a:rPr>
              <a:t>CE-Admin 앱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2057400"/>
            <a:ext cx="2011680" cy="502920"/>
          </a:xfrm>
          <a:prstGeom prst="rect">
            <a:avLst/>
          </a:prstGeom>
          <a:solidFill>
            <a:srgbClr val="736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13055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algun Gothic"/>
              </a:rPr>
              <a:t>📷 촬영하기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2715768"/>
            <a:ext cx="2011680" cy="502920"/>
          </a:xfrm>
          <a:prstGeom prst="rect">
            <a:avLst/>
          </a:prstGeom>
          <a:solidFill>
            <a:srgbClr val="00C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788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algun Gothic"/>
              </a:rPr>
              <a:t>📁 갤러리 선택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3374135"/>
            <a:ext cx="2011680" cy="502920"/>
          </a:xfrm>
          <a:prstGeom prst="rect">
            <a:avLst/>
          </a:prstGeom>
          <a:solidFill>
            <a:srgbClr val="28C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447287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algun Gothic"/>
              </a:rPr>
              <a:t>📋 처방전 목록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0690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E6B7B"/>
                </a:solidFill>
                <a:latin typeface="Malgun Gothic"/>
              </a:rPr>
              <a:t>처방전 미리보기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4343400"/>
            <a:ext cx="2011680" cy="12801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71600" y="4434840"/>
            <a:ext cx="731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 i="0">
                <a:solidFill>
                  <a:srgbClr val="6E6B7B"/>
                </a:solidFill>
                <a:latin typeface="Malgun Gothic"/>
              </a:rPr>
              <a:t>📄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83280" y="1188720"/>
            <a:ext cx="3931920" cy="2011680"/>
          </a:xfrm>
          <a:prstGeom prst="rect">
            <a:avLst/>
          </a:prstGeom>
          <a:solidFill>
            <a:srgbClr val="FFFFFF"/>
          </a:solidFill>
          <a:ln>
            <a:solidFill>
              <a:srgbClr val="E0D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383280" y="1188720"/>
            <a:ext cx="3931920" cy="64008"/>
          </a:xfrm>
          <a:prstGeom prst="rect">
            <a:avLst/>
          </a:prstGeom>
          <a:solidFill>
            <a:srgbClr val="736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20440" y="128016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367F0"/>
                </a:solidFill>
                <a:latin typeface="Malgun Gothic"/>
              </a:rPr>
              <a:t>📱  등록 방법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20440" y="169164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E6B7B"/>
                </a:solidFill>
                <a:latin typeface="Malgun Gothic"/>
              </a:rPr>
              <a:t>• 모바일 앱에서 처방전 사진 촬영</a:t>
            </a:r>
          </a:p>
          <a:p>
            <a:pPr algn="l"/>
            <a:r>
              <a:rPr sz="1200" b="0">
                <a:solidFill>
                  <a:srgbClr val="6E6B7B"/>
                </a:solidFill>
                <a:latin typeface="Malgun Gothic"/>
              </a:rPr>
              <a:t>• 갤러리에서 기존 이미지 업로드</a:t>
            </a:r>
          </a:p>
          <a:p>
            <a:pPr algn="l"/>
            <a:r>
              <a:rPr sz="1200" b="0">
                <a:solidFill>
                  <a:srgbClr val="6E6B7B"/>
                </a:solidFill>
                <a:latin typeface="Malgun Gothic"/>
              </a:rPr>
              <a:t>• 실시간 서버 전송 및 저장</a:t>
            </a:r>
          </a:p>
          <a:p>
            <a:pPr algn="l"/>
            <a:r>
              <a:rPr sz="1200" b="0">
                <a:solidFill>
                  <a:srgbClr val="6E6B7B"/>
                </a:solidFill>
                <a:latin typeface="Malgun Gothic"/>
              </a:rPr>
              <a:t>• 등록 완료 시 알림 발송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498079" y="1188720"/>
            <a:ext cx="4389120" cy="2011680"/>
          </a:xfrm>
          <a:prstGeom prst="rect">
            <a:avLst/>
          </a:prstGeom>
          <a:solidFill>
            <a:srgbClr val="FFFFFF"/>
          </a:solidFill>
          <a:ln>
            <a:solidFill>
              <a:srgbClr val="E0D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498079" y="1188720"/>
            <a:ext cx="4389120" cy="64008"/>
          </a:xfrm>
          <a:prstGeom prst="rect">
            <a:avLst/>
          </a:prstGeom>
          <a:solidFill>
            <a:srgbClr val="00C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35240" y="1280160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FE8"/>
                </a:solidFill>
                <a:latin typeface="Malgun Gothic"/>
              </a:rPr>
              <a:t>📎  지원 형식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35240" y="1691640"/>
            <a:ext cx="4114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E6B7B"/>
                </a:solidFill>
                <a:latin typeface="Malgun Gothic"/>
              </a:rPr>
              <a:t>• JPG, PNG, PDF 처방전 이미지</a:t>
            </a:r>
          </a:p>
          <a:p>
            <a:pPr algn="l"/>
            <a:r>
              <a:rPr sz="1200" b="0">
                <a:solidFill>
                  <a:srgbClr val="6E6B7B"/>
                </a:solidFill>
                <a:latin typeface="Malgun Gothic"/>
              </a:rPr>
              <a:t>• 최대 10MB 파일 크기</a:t>
            </a:r>
          </a:p>
          <a:p>
            <a:pPr algn="l"/>
            <a:r>
              <a:rPr sz="1200" b="0">
                <a:solidFill>
                  <a:srgbClr val="6E6B7B"/>
                </a:solidFill>
                <a:latin typeface="Malgun Gothic"/>
              </a:rPr>
              <a:t>• 자동 이미지 최적화 처리</a:t>
            </a:r>
          </a:p>
          <a:p>
            <a:pPr algn="l"/>
            <a:r>
              <a:rPr sz="1200" b="0">
                <a:solidFill>
                  <a:srgbClr val="6E6B7B"/>
                </a:solidFill>
                <a:latin typeface="Malgun Gothic"/>
              </a:rPr>
              <a:t>• 암호화 전송 보장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383280" y="3429000"/>
            <a:ext cx="8503920" cy="2651760"/>
          </a:xfrm>
          <a:prstGeom prst="rect">
            <a:avLst/>
          </a:prstGeom>
          <a:solidFill>
            <a:srgbClr val="FFFFFF"/>
          </a:solidFill>
          <a:ln>
            <a:solidFill>
              <a:srgbClr val="E0D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383280" y="3429000"/>
            <a:ext cx="8503920" cy="64008"/>
          </a:xfrm>
          <a:prstGeom prst="rect">
            <a:avLst/>
          </a:prstGeom>
          <a:solidFill>
            <a:srgbClr val="28C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520440" y="3520440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8C76F"/>
                </a:solidFill>
                <a:latin typeface="Malgun Gothic"/>
              </a:rPr>
              <a:t>🔄  처방전 등록 프로세스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20440" y="3931920"/>
            <a:ext cx="8229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E6B7B"/>
                </a:solidFill>
                <a:latin typeface="Malgun Gothic"/>
              </a:rPr>
              <a:t>① 환자가 모바일 앱 실행  →  ② 처방전 촬영 또는 갤러리 선택</a:t>
            </a:r>
          </a:p>
          <a:p>
            <a:pPr algn="l"/>
            <a:r>
              <a:rPr sz="1300" b="0">
                <a:solidFill>
                  <a:srgbClr val="6E6B7B"/>
                </a:solidFill>
                <a:latin typeface="Malgun Gothic"/>
              </a:rPr>
              <a:t>③ 이미지 미리보기 확인  →  ④ [전송] 버튼 클릭</a:t>
            </a:r>
          </a:p>
          <a:p>
            <a:pPr algn="l"/>
            <a:r>
              <a:rPr sz="1300" b="0">
                <a:solidFill>
                  <a:srgbClr val="6E6B7B"/>
                </a:solidFill>
                <a:latin typeface="Malgun Gothic"/>
              </a:rPr>
              <a:t>⑤ 서버 업로드 완료  →  ⑥ CE-Admin 관리자 화면에 수신 알림 표시</a:t>
            </a:r>
          </a:p>
          <a:p>
            <a:pPr algn="l"/>
            <a:r>
              <a:rPr sz="1300" b="0">
                <a:solidFill>
                  <a:srgbClr val="6E6B7B"/>
                </a:solidFill>
                <a:latin typeface="Malgun Gothic"/>
              </a:rPr>
              <a:t>⑦ 관리자 처방전 목록에서 신규 접수 확인 가능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736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82880"/>
            <a:ext cx="59436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64592"/>
            <a:ext cx="594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7367F0"/>
                </a:solidFill>
                <a:latin typeface="Malgun Gothic"/>
              </a:rPr>
              <a:t>STEP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3716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algun Gothic"/>
              </a:rPr>
              <a:t>AI OCR 판독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CCFF"/>
                </a:solidFill>
                <a:latin typeface="Malgun Gothic"/>
              </a:rPr>
              <a:t>처방전 이미지 자동 텍스트 인식 및 데이터 추출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5E5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280160"/>
            <a:ext cx="1828800" cy="1005840"/>
          </a:xfrm>
          <a:prstGeom prst="rect">
            <a:avLst/>
          </a:prstGeom>
          <a:solidFill>
            <a:srgbClr val="736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280160"/>
            <a:ext cx="1828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Malgun Gothic"/>
              </a:rPr>
              <a:t>처방전
이미지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0" y="1280160"/>
            <a:ext cx="1828800" cy="1005840"/>
          </a:xfrm>
          <a:prstGeom prst="rect">
            <a:avLst/>
          </a:prstGeom>
          <a:solidFill>
            <a:srgbClr val="00C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0" y="1280160"/>
            <a:ext cx="1828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Malgun Gothic"/>
              </a:rPr>
              <a:t>AI OCR
엔진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20640" y="1280160"/>
            <a:ext cx="1828800" cy="1005840"/>
          </a:xfrm>
          <a:prstGeom prst="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0640" y="1280160"/>
            <a:ext cx="1828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Malgun Gothic"/>
              </a:rPr>
              <a:t>텍스트
추출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98079" y="1280160"/>
            <a:ext cx="1828800" cy="1005840"/>
          </a:xfrm>
          <a:prstGeom prst="rect">
            <a:avLst/>
          </a:prstGeom>
          <a:solidFill>
            <a:srgbClr val="28C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79" y="1280160"/>
            <a:ext cx="1828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Malgun Gothic"/>
              </a:rPr>
              <a:t>구조화
데이터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875520" y="1280160"/>
            <a:ext cx="1828800" cy="1005840"/>
          </a:xfrm>
          <a:prstGeom prst="rect">
            <a:avLst/>
          </a:prstGeom>
          <a:solidFill>
            <a:srgbClr val="736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0" y="1280160"/>
            <a:ext cx="1828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Malgun Gothic"/>
              </a:rPr>
              <a:t>DB
저장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4560" y="1572768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7367F0"/>
                </a:solidFill>
                <a:latin typeface="Malgun Gothic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1572768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7367F0"/>
                </a:solidFill>
                <a:latin typeface="Malgun Gothic"/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1572768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7367F0"/>
                </a:solidFill>
                <a:latin typeface="Malgun Gothic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0" y="1572768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7367F0"/>
                </a:solidFill>
                <a:latin typeface="Malgun Gothic"/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2606040"/>
            <a:ext cx="5303520" cy="3931920"/>
          </a:xfrm>
          <a:prstGeom prst="rect">
            <a:avLst/>
          </a:prstGeom>
          <a:solidFill>
            <a:srgbClr val="FFFFFF"/>
          </a:solidFill>
          <a:ln>
            <a:solidFill>
              <a:srgbClr val="E0D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5760" y="2606040"/>
            <a:ext cx="5303520" cy="411480"/>
          </a:xfrm>
          <a:prstGeom prst="rect">
            <a:avLst/>
          </a:prstGeom>
          <a:solidFill>
            <a:srgbClr val="736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26517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algun Gothic"/>
              </a:rPr>
              <a:t>OCR 판독 결과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31546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E6B7B"/>
                </a:solidFill>
                <a:latin typeface="Malgun Gothic"/>
              </a:rPr>
              <a:t>환자명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423160" y="3182112"/>
            <a:ext cx="3017520" cy="256032"/>
          </a:xfrm>
          <a:prstGeom prst="rect">
            <a:avLst/>
          </a:prstGeom>
          <a:solidFill>
            <a:srgbClr val="F8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468880" y="3182112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8C76F"/>
                </a:solidFill>
                <a:latin typeface="Malgun Gothic"/>
              </a:rPr>
              <a:t>홍길동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353872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E6B7B"/>
                </a:solidFill>
                <a:latin typeface="Malgun Gothic"/>
              </a:rPr>
              <a:t>생년월일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423160" y="3566160"/>
            <a:ext cx="3017520" cy="256032"/>
          </a:xfrm>
          <a:prstGeom prst="rect">
            <a:avLst/>
          </a:prstGeom>
          <a:solidFill>
            <a:srgbClr val="F8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468880" y="356616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FE8"/>
                </a:solidFill>
                <a:latin typeface="Malgun Gothic"/>
              </a:rPr>
              <a:t>1985-03-15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392277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E6B7B"/>
                </a:solidFill>
                <a:latin typeface="Malgun Gothic"/>
              </a:rPr>
              <a:t>처방일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423160" y="3950208"/>
            <a:ext cx="3017520" cy="256032"/>
          </a:xfrm>
          <a:prstGeom prst="rect">
            <a:avLst/>
          </a:prstGeom>
          <a:solidFill>
            <a:srgbClr val="F8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468880" y="3950208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367F0"/>
                </a:solidFill>
                <a:latin typeface="Malgun Gothic"/>
              </a:rPr>
              <a:t>2026-05-08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430682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E6B7B"/>
                </a:solidFill>
                <a:latin typeface="Malgun Gothic"/>
              </a:rPr>
              <a:t>병원명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423160" y="4334256"/>
            <a:ext cx="3017520" cy="256032"/>
          </a:xfrm>
          <a:prstGeom prst="rect">
            <a:avLst/>
          </a:prstGeom>
          <a:solidFill>
            <a:srgbClr val="F8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468880" y="4334256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367F0"/>
                </a:solidFill>
                <a:latin typeface="Malgun Gothic"/>
              </a:rPr>
              <a:t>서울내과의원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469087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E6B7B"/>
                </a:solidFill>
                <a:latin typeface="Malgun Gothic"/>
              </a:rPr>
              <a:t>의약품명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423160" y="4718304"/>
            <a:ext cx="3017520" cy="256032"/>
          </a:xfrm>
          <a:prstGeom prst="rect">
            <a:avLst/>
          </a:prstGeom>
          <a:solidFill>
            <a:srgbClr val="F8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468880" y="4718304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9F43"/>
                </a:solidFill>
                <a:latin typeface="Malgun Gothic"/>
              </a:rPr>
              <a:t>아목시실린 500mg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50749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E6B7B"/>
                </a:solidFill>
                <a:latin typeface="Malgun Gothic"/>
              </a:rPr>
              <a:t>용량/횟수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423160" y="5102352"/>
            <a:ext cx="3017520" cy="256032"/>
          </a:xfrm>
          <a:prstGeom prst="rect">
            <a:avLst/>
          </a:prstGeom>
          <a:solidFill>
            <a:srgbClr val="F8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468880" y="5102352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9F43"/>
                </a:solidFill>
                <a:latin typeface="Malgun Gothic"/>
              </a:rPr>
              <a:t>1정 × 3회 × 7일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545896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E6B7B"/>
                </a:solidFill>
                <a:latin typeface="Malgun Gothic"/>
              </a:rPr>
              <a:t>처방의 면허번호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423160" y="5486400"/>
            <a:ext cx="3017520" cy="256032"/>
          </a:xfrm>
          <a:prstGeom prst="rect">
            <a:avLst/>
          </a:prstGeom>
          <a:solidFill>
            <a:srgbClr val="F8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468880" y="548640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E6B7B"/>
                </a:solidFill>
                <a:latin typeface="Malgun Gothic"/>
              </a:rPr>
              <a:t>12345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6172200"/>
            <a:ext cx="5303520" cy="365760"/>
          </a:xfrm>
          <a:prstGeom prst="rect">
            <a:avLst/>
          </a:prstGeom>
          <a:solidFill>
            <a:srgbClr val="EDE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7200" y="619963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367F0"/>
                </a:solidFill>
                <a:latin typeface="Malgun Gothic"/>
              </a:rPr>
              <a:t>판독 신뢰도: 97.3%  ✓ 자동 처리 완료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943600" y="2606040"/>
            <a:ext cx="2926080" cy="1828800"/>
          </a:xfrm>
          <a:prstGeom prst="rect">
            <a:avLst/>
          </a:prstGeom>
          <a:solidFill>
            <a:srgbClr val="FFFFFF"/>
          </a:solidFill>
          <a:ln>
            <a:solidFill>
              <a:srgbClr val="E0D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943600" y="2606040"/>
            <a:ext cx="2926080" cy="64008"/>
          </a:xfrm>
          <a:prstGeom prst="rect">
            <a:avLst/>
          </a:prstGeom>
          <a:solidFill>
            <a:srgbClr val="00C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080760" y="2697480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FE8"/>
                </a:solidFill>
                <a:latin typeface="Malgun Gothic"/>
              </a:rPr>
              <a:t>🤖  AI 모델 특징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080760" y="3108960"/>
            <a:ext cx="2651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E6B7B"/>
                </a:solidFill>
                <a:latin typeface="Malgun Gothic"/>
              </a:rPr>
              <a:t>• 딥러닝 기반 문자 인식</a:t>
            </a:r>
          </a:p>
          <a:p>
            <a:pPr algn="l"/>
            <a:r>
              <a:rPr sz="1200" b="0">
                <a:solidFill>
                  <a:srgbClr val="6E6B7B"/>
                </a:solidFill>
                <a:latin typeface="Malgun Gothic"/>
              </a:rPr>
              <a:t>• 한국어 의약 용어 특화</a:t>
            </a:r>
          </a:p>
          <a:p>
            <a:pPr algn="l"/>
            <a:r>
              <a:rPr sz="1200" b="0">
                <a:solidFill>
                  <a:srgbClr val="6E6B7B"/>
                </a:solidFill>
                <a:latin typeface="Malgun Gothic"/>
              </a:rPr>
              <a:t>• 손글씨 처방전 지원</a:t>
            </a:r>
          </a:p>
          <a:p>
            <a:pPr algn="l"/>
            <a:r>
              <a:rPr sz="1200" b="0">
                <a:solidFill>
                  <a:srgbClr val="6E6B7B"/>
                </a:solidFill>
                <a:latin typeface="Malgun Gothic"/>
              </a:rPr>
              <a:t>• 평균 97%+ 인식 정확도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052560" y="2606040"/>
            <a:ext cx="2834640" cy="1828800"/>
          </a:xfrm>
          <a:prstGeom prst="rect">
            <a:avLst/>
          </a:prstGeom>
          <a:solidFill>
            <a:srgbClr val="FFFFFF"/>
          </a:solidFill>
          <a:ln>
            <a:solidFill>
              <a:srgbClr val="E0D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052560" y="2606040"/>
            <a:ext cx="2834640" cy="64008"/>
          </a:xfrm>
          <a:prstGeom prst="rect">
            <a:avLst/>
          </a:prstGeom>
          <a:solidFill>
            <a:srgbClr val="28C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189720" y="269748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8C76F"/>
                </a:solidFill>
                <a:latin typeface="Malgun Gothic"/>
              </a:rPr>
              <a:t>📊  추출 데이터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189720" y="3108960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E6B7B"/>
                </a:solidFill>
                <a:latin typeface="Malgun Gothic"/>
              </a:rPr>
              <a:t>• 환자 기본정보 (성명, 생년월일)</a:t>
            </a:r>
          </a:p>
          <a:p>
            <a:pPr algn="l"/>
            <a:r>
              <a:rPr sz="1200" b="0">
                <a:solidFill>
                  <a:srgbClr val="6E6B7B"/>
                </a:solidFill>
                <a:latin typeface="Malgun Gothic"/>
              </a:rPr>
              <a:t>• 처방 의약품 목록</a:t>
            </a:r>
          </a:p>
          <a:p>
            <a:pPr algn="l"/>
            <a:r>
              <a:rPr sz="1200" b="0">
                <a:solidFill>
                  <a:srgbClr val="6E6B7B"/>
                </a:solidFill>
                <a:latin typeface="Malgun Gothic"/>
              </a:rPr>
              <a:t>• 처방 병원 및 의사 정보</a:t>
            </a:r>
          </a:p>
          <a:p>
            <a:pPr algn="l"/>
            <a:r>
              <a:rPr sz="1200" b="0">
                <a:solidFill>
                  <a:srgbClr val="6E6B7B"/>
                </a:solidFill>
                <a:latin typeface="Malgun Gothic"/>
              </a:rPr>
              <a:t>• 처방일 및 유효기간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943600" y="4663440"/>
            <a:ext cx="5943600" cy="1874519"/>
          </a:xfrm>
          <a:prstGeom prst="rect">
            <a:avLst/>
          </a:prstGeom>
          <a:solidFill>
            <a:srgbClr val="FFFFFF"/>
          </a:solidFill>
          <a:ln>
            <a:solidFill>
              <a:srgbClr val="E0D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943600" y="4663440"/>
            <a:ext cx="5943600" cy="64008"/>
          </a:xfrm>
          <a:prstGeom prst="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080760" y="4754879"/>
            <a:ext cx="5669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9F43"/>
                </a:solidFill>
                <a:latin typeface="Malgun Gothic"/>
              </a:rPr>
              <a:t>⚡  처리 흐름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080760" y="5166359"/>
            <a:ext cx="5669280" cy="1234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E6B7B"/>
                </a:solidFill>
                <a:latin typeface="Malgun Gothic"/>
              </a:rPr>
              <a:t>1. 업로드된 처방전 이미지 자동 감지</a:t>
            </a:r>
          </a:p>
          <a:p>
            <a:pPr algn="l"/>
            <a:r>
              <a:rPr sz="1200" b="0">
                <a:solidFill>
                  <a:srgbClr val="6E6B7B"/>
                </a:solidFill>
                <a:latin typeface="Malgun Gothic"/>
              </a:rPr>
              <a:t>2. AI OCR 엔진 호출 (비동기 처리)</a:t>
            </a:r>
          </a:p>
          <a:p>
            <a:pPr algn="l"/>
            <a:r>
              <a:rPr sz="1200" b="0">
                <a:solidFill>
                  <a:srgbClr val="6E6B7B"/>
                </a:solidFill>
                <a:latin typeface="Malgun Gothic"/>
              </a:rPr>
              <a:t>3. 필드별 데이터 추출 및 신뢰도 측정</a:t>
            </a:r>
          </a:p>
          <a:p>
            <a:pPr algn="l"/>
            <a:r>
              <a:rPr sz="1200" b="0">
                <a:solidFill>
                  <a:srgbClr val="6E6B7B"/>
                </a:solidFill>
                <a:latin typeface="Malgun Gothic"/>
              </a:rPr>
              <a:t>4. 신뢰도 95% 이상: 자동 저장</a:t>
            </a:r>
          </a:p>
          <a:p>
            <a:pPr algn="l"/>
            <a:r>
              <a:rPr sz="1200" b="0">
                <a:solidFill>
                  <a:srgbClr val="6E6B7B"/>
                </a:solidFill>
                <a:latin typeface="Malgun Gothic"/>
              </a:rPr>
              <a:t>5. 신뢰도 95% 미만: 수기 검증 단계로 이관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736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82880"/>
            <a:ext cx="59436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64592"/>
            <a:ext cx="594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7367F0"/>
                </a:solidFill>
                <a:latin typeface="Malgun Gothic"/>
              </a:rPr>
              <a:t>STEP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3716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algun Gothic"/>
              </a:rPr>
              <a:t>OCR 수기 검증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CCFF"/>
                </a:solidFill>
                <a:latin typeface="Malgun Gothic"/>
              </a:rPr>
              <a:t>AI 판독 결과 관리자 수동 검토 및 수정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5E5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188720"/>
            <a:ext cx="3840480" cy="5303520"/>
          </a:xfrm>
          <a:prstGeom prst="rect">
            <a:avLst/>
          </a:prstGeom>
          <a:solidFill>
            <a:srgbClr val="FFFFFF"/>
          </a:solidFill>
          <a:ln>
            <a:solidFill>
              <a:srgbClr val="E0D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188720"/>
            <a:ext cx="3840480" cy="411480"/>
          </a:xfrm>
          <a:prstGeom prst="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2344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algun Gothic"/>
              </a:rPr>
              <a:t>원본 처방전 이미지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691640"/>
            <a:ext cx="3657600" cy="438912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292608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6E6B7B"/>
                </a:solidFill>
                <a:latin typeface="Malgun Gothic"/>
              </a:rPr>
              <a:t>📄
처방전
이미지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011680"/>
            <a:ext cx="1371600" cy="228600"/>
          </a:xfrm>
          <a:prstGeom prst="rect">
            <a:avLst/>
          </a:prstGeom>
          <a:noFill/>
          <a:ln w="1905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2377440"/>
            <a:ext cx="2286000" cy="228600"/>
          </a:xfrm>
          <a:prstGeom prst="rect">
            <a:avLst/>
          </a:prstGeom>
          <a:noFill/>
          <a:ln w="19050">
            <a:solidFill>
              <a:srgbClr val="736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2743200"/>
            <a:ext cx="2743200" cy="228600"/>
          </a:xfrm>
          <a:prstGeom prst="rect">
            <a:avLst/>
          </a:prstGeom>
          <a:noFill/>
          <a:ln w="19050">
            <a:solidFill>
              <a:srgbClr val="28C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89120" y="1188720"/>
            <a:ext cx="7498079" cy="5303520"/>
          </a:xfrm>
          <a:prstGeom prst="rect">
            <a:avLst/>
          </a:prstGeom>
          <a:solidFill>
            <a:srgbClr val="FFFFFF"/>
          </a:solidFill>
          <a:ln>
            <a:solidFill>
              <a:srgbClr val="E0D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89120" y="1188720"/>
            <a:ext cx="7498079" cy="411480"/>
          </a:xfrm>
          <a:prstGeom prst="rect">
            <a:avLst/>
          </a:prstGeom>
          <a:solidFill>
            <a:srgbClr val="736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60" y="12344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algun Gothic"/>
              </a:rPr>
              <a:t>수기 검증 편집 화면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178308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E6B7B"/>
                </a:solidFill>
                <a:latin typeface="Malgun Gothic"/>
              </a:rPr>
              <a:t>환자명 *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75120" y="1801368"/>
            <a:ext cx="4937760" cy="274320"/>
          </a:xfrm>
          <a:prstGeom prst="rect">
            <a:avLst/>
          </a:prstGeom>
          <a:solidFill>
            <a:srgbClr val="F8F7FA"/>
          </a:solidFill>
          <a:ln>
            <a:solidFill>
              <a:srgbClr val="E0D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20840" y="1819656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F3349"/>
                </a:solidFill>
                <a:latin typeface="Malgun Gothic"/>
              </a:rPr>
              <a:t>홍길동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567160" y="180136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F3349"/>
                </a:solidFill>
                <a:latin typeface="Malgun Gothic"/>
              </a:rPr>
              <a:t>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224028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E6B7B"/>
                </a:solidFill>
                <a:latin typeface="Malgun Gothic"/>
              </a:rPr>
              <a:t>생년월일 *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675120" y="2258568"/>
            <a:ext cx="4937760" cy="274320"/>
          </a:xfrm>
          <a:prstGeom prst="rect">
            <a:avLst/>
          </a:prstGeom>
          <a:solidFill>
            <a:srgbClr val="F8F7FA"/>
          </a:solidFill>
          <a:ln>
            <a:solidFill>
              <a:srgbClr val="E0D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20840" y="2276856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F3349"/>
                </a:solidFill>
                <a:latin typeface="Malgun Gothic"/>
              </a:rPr>
              <a:t>1985-03-15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567160" y="225856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F3349"/>
                </a:solidFill>
                <a:latin typeface="Malgun Gothic"/>
              </a:rPr>
              <a:t>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269748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E6B7B"/>
                </a:solidFill>
                <a:latin typeface="Malgun Gothic"/>
              </a:rPr>
              <a:t>처방일 *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75120" y="2715768"/>
            <a:ext cx="4937760" cy="274320"/>
          </a:xfrm>
          <a:prstGeom prst="rect">
            <a:avLst/>
          </a:prstGeom>
          <a:solidFill>
            <a:srgbClr val="F8F7FA"/>
          </a:solidFill>
          <a:ln>
            <a:solidFill>
              <a:srgbClr val="E0D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20840" y="2734056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F3349"/>
                </a:solidFill>
                <a:latin typeface="Malgun Gothic"/>
              </a:rPr>
              <a:t>2026-05-08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567160" y="271576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F3349"/>
                </a:solidFill>
                <a:latin typeface="Malgun Gothic"/>
              </a:rPr>
              <a:t>✅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315468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E6B7B"/>
                </a:solidFill>
                <a:latin typeface="Malgun Gothic"/>
              </a:rPr>
              <a:t>병원명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75120" y="3172968"/>
            <a:ext cx="4937760" cy="274320"/>
          </a:xfrm>
          <a:prstGeom prst="rect">
            <a:avLst/>
          </a:prstGeom>
          <a:solidFill>
            <a:srgbClr val="F8F7FA"/>
          </a:solidFill>
          <a:ln>
            <a:solidFill>
              <a:srgbClr val="E0D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20840" y="3191256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F3349"/>
                </a:solidFill>
                <a:latin typeface="Malgun Gothic"/>
              </a:rPr>
              <a:t>서울내과의원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567160" y="317296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F3349"/>
                </a:solidFill>
                <a:latin typeface="Malgun Gothic"/>
              </a:rPr>
              <a:t>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0" y="361188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E6B7B"/>
                </a:solidFill>
                <a:latin typeface="Malgun Gothic"/>
              </a:rPr>
              <a:t>의약품명 *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675120" y="3630168"/>
            <a:ext cx="4937760" cy="274320"/>
          </a:xfrm>
          <a:prstGeom prst="rect">
            <a:avLst/>
          </a:prstGeom>
          <a:solidFill>
            <a:srgbClr val="F8F7FA"/>
          </a:solidFill>
          <a:ln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720840" y="3648456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F3349"/>
                </a:solidFill>
                <a:latin typeface="Malgun Gothic"/>
              </a:rPr>
              <a:t>아목시실린 500mg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567160" y="363016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F3349"/>
                </a:solidFill>
                <a:latin typeface="Malgun Gothic"/>
              </a:rPr>
              <a:t>⚠️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406908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E6B7B"/>
                </a:solidFill>
                <a:latin typeface="Malgun Gothic"/>
              </a:rPr>
              <a:t>처방수량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675120" y="4087368"/>
            <a:ext cx="4937760" cy="274320"/>
          </a:xfrm>
          <a:prstGeom prst="rect">
            <a:avLst/>
          </a:prstGeom>
          <a:solidFill>
            <a:srgbClr val="F8F7FA"/>
          </a:solidFill>
          <a:ln>
            <a:solidFill>
              <a:srgbClr val="E0D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720840" y="4105656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F3349"/>
                </a:solidFill>
                <a:latin typeface="Malgun Gothic"/>
              </a:rPr>
              <a:t>21정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567160" y="408736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F3349"/>
                </a:solidFill>
                <a:latin typeface="Malgun Gothic"/>
              </a:rPr>
              <a:t>✅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0" y="5852160"/>
            <a:ext cx="2286000" cy="411480"/>
          </a:xfrm>
          <a:prstGeom prst="rect">
            <a:avLst/>
          </a:prstGeom>
          <a:solidFill>
            <a:srgbClr val="28C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72000" y="587044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algun Gothic"/>
              </a:rPr>
              <a:t>✓  검증 완료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040880" y="5852160"/>
            <a:ext cx="2286000" cy="411480"/>
          </a:xfrm>
          <a:prstGeom prst="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040880" y="587044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algun Gothic"/>
              </a:rPr>
              <a:t>↩  재판독 요청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509760" y="5852160"/>
            <a:ext cx="2103120" cy="411480"/>
          </a:xfrm>
          <a:prstGeom prst="rect">
            <a:avLst/>
          </a:prstGeom>
          <a:solidFill>
            <a:srgbClr val="EA5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509760" y="587044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algun Gothic"/>
              </a:rPr>
              <a:t>✕  처방전 반려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736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82880"/>
            <a:ext cx="59436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64592"/>
            <a:ext cx="594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7367F0"/>
                </a:solidFill>
                <a:latin typeface="Malgun Gothic"/>
              </a:rPr>
              <a:t>STEP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3716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algun Gothic"/>
              </a:rPr>
              <a:t>주소 입력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CCFF"/>
                </a:solidFill>
                <a:latin typeface="Malgun Gothic"/>
              </a:rPr>
              <a:t>환자 배송 주소 등록 및 관리 (카카오 주소 API 연동)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5E5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188720"/>
            <a:ext cx="5943600" cy="5303520"/>
          </a:xfrm>
          <a:prstGeom prst="rect">
            <a:avLst/>
          </a:prstGeom>
          <a:solidFill>
            <a:srgbClr val="FFFFFF"/>
          </a:solidFill>
          <a:ln>
            <a:solidFill>
              <a:srgbClr val="E0D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188720"/>
            <a:ext cx="5943600" cy="64008"/>
          </a:xfrm>
          <a:prstGeom prst="rect">
            <a:avLst/>
          </a:prstGeom>
          <a:solidFill>
            <a:srgbClr val="28C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280160"/>
            <a:ext cx="5669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8C76F"/>
                </a:solidFill>
                <a:latin typeface="Malgun Gothic"/>
              </a:rPr>
              <a:t>📍  주소 입력 화면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691640"/>
            <a:ext cx="56692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E6B7B"/>
                </a:solidFill>
                <a:latin typeface="Malgun Gothic"/>
              </a:rPr>
              <a:t>우편번호 검색 (카카오 주소 API)</a:t>
            </a:r>
          </a:p>
          <a:p>
            <a:pPr algn="l"/>
            <a:r>
              <a:rPr sz="1200" b="0">
                <a:solidFill>
                  <a:srgbClr val="6E6B7B"/>
                </a:solidFill>
                <a:latin typeface="Malgun Gothic"/>
              </a:rPr>
              <a:t>상세 주소 입력</a:t>
            </a:r>
          </a:p>
          <a:p>
            <a:pPr algn="l"/>
            <a:r>
              <a:rPr sz="1200" b="0">
                <a:solidFill>
                  <a:srgbClr val="6E6B7B"/>
                </a:solidFill>
                <a:latin typeface="Malgun Gothic"/>
              </a:rPr>
              <a:t>기본 배송지 설정</a:t>
            </a:r>
          </a:p>
          <a:p>
            <a:pPr algn="l"/>
            <a:r>
              <a:rPr sz="1200" b="0">
                <a:solidFill>
                  <a:srgbClr val="6E6B7B"/>
                </a:solidFill>
                <a:latin typeface="Malgun Gothic"/>
              </a:rPr>
              <a:t>주소 이력 관리 (최근 주소 자동완성)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011680"/>
            <a:ext cx="5577840" cy="347472"/>
          </a:xfrm>
          <a:prstGeom prst="rect">
            <a:avLst/>
          </a:prstGeom>
          <a:solidFill>
            <a:srgbClr val="FFFFFF"/>
          </a:solidFill>
          <a:ln>
            <a:solidFill>
              <a:srgbClr val="E0D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03911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F3349"/>
                </a:solidFill>
                <a:latin typeface="Malgun Gothic"/>
              </a:rPr>
              <a:t>우편번호  06234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0" y="2029968"/>
            <a:ext cx="1371600" cy="320040"/>
          </a:xfrm>
          <a:prstGeom prst="rect">
            <a:avLst/>
          </a:prstGeom>
          <a:solidFill>
            <a:srgbClr val="736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204825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algun Gothic"/>
              </a:rPr>
              <a:t>주소 검색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468880"/>
            <a:ext cx="5577840" cy="347472"/>
          </a:xfrm>
          <a:prstGeom prst="rect">
            <a:avLst/>
          </a:prstGeom>
          <a:solidFill>
            <a:srgbClr val="FFFFFF"/>
          </a:solidFill>
          <a:ln>
            <a:solidFill>
              <a:srgbClr val="E0D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49631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F3349"/>
                </a:solidFill>
                <a:latin typeface="Malgun Gothic"/>
              </a:rPr>
              <a:t>기본주소  서울특별시 강남구 테헤란로 123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2926080"/>
            <a:ext cx="5577840" cy="347472"/>
          </a:xfrm>
          <a:prstGeom prst="rect">
            <a:avLst/>
          </a:prstGeom>
          <a:solidFill>
            <a:srgbClr val="FFFFFF"/>
          </a:solidFill>
          <a:ln>
            <a:solidFill>
              <a:srgbClr val="E0D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295351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F3349"/>
                </a:solidFill>
                <a:latin typeface="Malgun Gothic"/>
              </a:rPr>
              <a:t>상세주소  강남빌딩 801호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383280"/>
            <a:ext cx="5577840" cy="347472"/>
          </a:xfrm>
          <a:prstGeom prst="rect">
            <a:avLst/>
          </a:prstGeom>
          <a:solidFill>
            <a:srgbClr val="28C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3401568"/>
            <a:ext cx="5577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algun Gothic"/>
              </a:rPr>
              <a:t>✓  주소 저장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0" y="1188720"/>
            <a:ext cx="5303520" cy="2377440"/>
          </a:xfrm>
          <a:prstGeom prst="rect">
            <a:avLst/>
          </a:prstGeom>
          <a:solidFill>
            <a:srgbClr val="FFFFFF"/>
          </a:solidFill>
          <a:ln>
            <a:solidFill>
              <a:srgbClr val="E0D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0" y="1188720"/>
            <a:ext cx="5303520" cy="64008"/>
          </a:xfrm>
          <a:prstGeom prst="rect">
            <a:avLst/>
          </a:prstGeom>
          <a:solidFill>
            <a:srgbClr val="28C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20840" y="128016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8C76F"/>
                </a:solidFill>
                <a:latin typeface="Malgun Gothic"/>
              </a:rPr>
              <a:t>🗺️  기능 요약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20840" y="1691640"/>
            <a:ext cx="50292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E6B7B"/>
                </a:solidFill>
                <a:latin typeface="Malgun Gothic"/>
              </a:rPr>
              <a:t>• 다음(카카오) 주소 API 팝업 연동</a:t>
            </a:r>
          </a:p>
          <a:p>
            <a:pPr algn="l"/>
            <a:r>
              <a:rPr sz="1200" b="0">
                <a:solidFill>
                  <a:srgbClr val="6E6B7B"/>
                </a:solidFill>
                <a:latin typeface="Malgun Gothic"/>
              </a:rPr>
              <a:t>• 도로명 / 지번 주소 모두 지원</a:t>
            </a:r>
          </a:p>
          <a:p>
            <a:pPr algn="l"/>
            <a:r>
              <a:rPr sz="1200" b="0">
                <a:solidFill>
                  <a:srgbClr val="6E6B7B"/>
                </a:solidFill>
                <a:latin typeface="Malgun Gothic"/>
              </a:rPr>
              <a:t>• 배송지 등록 후 주문 연동 자동 적용</a:t>
            </a:r>
          </a:p>
          <a:p>
            <a:pPr algn="l"/>
            <a:r>
              <a:rPr sz="1200" b="0">
                <a:solidFill>
                  <a:srgbClr val="6E6B7B"/>
                </a:solidFill>
                <a:latin typeface="Malgun Gothic"/>
              </a:rPr>
              <a:t>• 환자별 복수 배송지 관리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0" y="3749039"/>
            <a:ext cx="5303520" cy="2743200"/>
          </a:xfrm>
          <a:prstGeom prst="rect">
            <a:avLst/>
          </a:prstGeom>
          <a:solidFill>
            <a:srgbClr val="FFFFFF"/>
          </a:solidFill>
          <a:ln>
            <a:solidFill>
              <a:srgbClr val="E0D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0" y="3749039"/>
            <a:ext cx="5303520" cy="64008"/>
          </a:xfrm>
          <a:prstGeom prst="rect">
            <a:avLst/>
          </a:prstGeom>
          <a:solidFill>
            <a:srgbClr val="00C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20840" y="3840479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FE8"/>
                </a:solidFill>
                <a:latin typeface="Malgun Gothic"/>
              </a:rPr>
              <a:t>🕐  주소 이력 및 자동완성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0840" y="4251959"/>
            <a:ext cx="50292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E6B7B"/>
                </a:solidFill>
                <a:latin typeface="Malgun Gothic"/>
              </a:rPr>
              <a:t>최근 사용 주소 목록 표시</a:t>
            </a:r>
          </a:p>
          <a:p>
            <a:pPr algn="l"/>
            <a:r>
              <a:rPr sz="1200" b="0">
                <a:solidFill>
                  <a:srgbClr val="6E6B7B"/>
                </a:solidFill>
                <a:latin typeface="Malgun Gothic"/>
              </a:rPr>
              <a:t>• 서울특별시 강남구 테헤란로 123 (기본)</a:t>
            </a:r>
          </a:p>
          <a:p>
            <a:pPr algn="l"/>
            <a:r>
              <a:rPr sz="1200" b="0">
                <a:solidFill>
                  <a:srgbClr val="6E6B7B"/>
                </a:solidFill>
                <a:latin typeface="Malgun Gothic"/>
              </a:rPr>
              <a:t>• 서울특별시 서초구 반포대로 58</a:t>
            </a:r>
          </a:p>
          <a:p>
            <a:pPr algn="l"/>
            <a:r>
              <a:rPr sz="1200" b="0">
                <a:solidFill>
                  <a:srgbClr val="6E6B7B"/>
                </a:solidFill>
                <a:latin typeface="Malgun Gothic"/>
              </a:rPr>
              <a:t>• 경기도 성남시 분당구 판교로 256</a:t>
            </a:r>
          </a:p>
          <a:p>
            <a:pPr algn="l"/>
            <a:r>
              <a:rPr sz="1200" b="0">
                <a:solidFill>
                  <a:srgbClr val="6E6B7B"/>
                </a:solidFill>
                <a:latin typeface="Malgun Gothic"/>
              </a:rPr>
              <a:t/>
            </a:r>
          </a:p>
          <a:p>
            <a:pPr algn="l"/>
            <a:r>
              <a:rPr sz="1200" b="0">
                <a:solidFill>
                  <a:srgbClr val="6E6B7B"/>
                </a:solidFill>
                <a:latin typeface="Malgun Gothic"/>
              </a:rPr>
              <a:t>→ 선택 시 자동 입력 완성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736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82880"/>
            <a:ext cx="59436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64592"/>
            <a:ext cx="594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7367F0"/>
                </a:solidFill>
                <a:latin typeface="Malgun Gothic"/>
              </a:rPr>
              <a:t>STEP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3716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algun Gothic"/>
              </a:rPr>
              <a:t>제품 조회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CCFF"/>
                </a:solidFill>
                <a:latin typeface="Malgun Gothic"/>
              </a:rPr>
              <a:t>TodoWorks 판매주문 API 연계 제품 검색 및 선택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5E5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188720"/>
            <a:ext cx="2560320" cy="822960"/>
          </a:xfrm>
          <a:prstGeom prst="rect">
            <a:avLst/>
          </a:prstGeom>
          <a:solidFill>
            <a:srgbClr val="736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18872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algun Gothic"/>
              </a:rPr>
              <a:t>CE-Admin
처방전 화면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14630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367F0"/>
                </a:solidFill>
                <a:latin typeface="Malgun Gothic"/>
              </a:rPr>
              <a:t>→ API 요청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188720"/>
            <a:ext cx="2743200" cy="822960"/>
          </a:xfrm>
          <a:prstGeom prst="rect">
            <a:avLst/>
          </a:prstGeom>
          <a:solidFill>
            <a:srgbClr val="00C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0" y="118872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algun Gothic"/>
              </a:rPr>
              <a:t>TodoWorks
판매주문 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14630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FE8"/>
                </a:solidFill>
                <a:latin typeface="Malgun Gothic"/>
              </a:rPr>
              <a:t>← 응답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1188720"/>
            <a:ext cx="2743200" cy="822960"/>
          </a:xfrm>
          <a:prstGeom prst="rect">
            <a:avLst/>
          </a:prstGeom>
          <a:solidFill>
            <a:srgbClr val="28C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60" y="118872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algun Gothic"/>
              </a:rPr>
              <a:t>제품 목록
표시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286000"/>
            <a:ext cx="11521440" cy="457200"/>
          </a:xfrm>
          <a:prstGeom prst="rect">
            <a:avLst/>
          </a:prstGeom>
          <a:solidFill>
            <a:srgbClr val="FFFFFF"/>
          </a:solidFill>
          <a:ln>
            <a:solidFill>
              <a:srgbClr val="E0D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2331720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E6B7B"/>
                </a:solidFill>
                <a:latin typeface="Malgun Gothic"/>
              </a:rPr>
              <a:t>🔍  제품명 또는 성분명 검색...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332720" y="2304288"/>
            <a:ext cx="1371600" cy="402336"/>
          </a:xfrm>
          <a:prstGeom prst="rect">
            <a:avLst/>
          </a:prstGeom>
          <a:solidFill>
            <a:srgbClr val="736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0" y="2322576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algun Gothic"/>
              </a:rPr>
              <a:t>검색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2880360"/>
            <a:ext cx="11521440" cy="347472"/>
          </a:xfrm>
          <a:prstGeom prst="rect">
            <a:avLst/>
          </a:prstGeom>
          <a:solidFill>
            <a:srgbClr val="2F33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291693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algun Gothic"/>
              </a:rPr>
              <a:t>제품코드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2916936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algun Gothic"/>
              </a:rPr>
              <a:t>제품명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2916936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algun Gothic"/>
              </a:rPr>
              <a:t>성분/규격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2916936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algun Gothic"/>
              </a:rPr>
              <a:t>단가(원)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2916936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algun Gothic"/>
              </a:rPr>
              <a:t>재고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2916936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algun Gothic"/>
              </a:rPr>
              <a:t>선택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3227832"/>
            <a:ext cx="11521440" cy="384048"/>
          </a:xfrm>
          <a:prstGeom prst="rect">
            <a:avLst/>
          </a:prstGeom>
          <a:solidFill>
            <a:srgbClr val="EDEBFD"/>
          </a:solidFill>
          <a:ln>
            <a:solidFill>
              <a:srgbClr val="E0D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3300984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F3349"/>
                </a:solidFill>
                <a:latin typeface="Malgun Gothic"/>
              </a:rPr>
              <a:t>AMX-500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45920" y="3300984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F3349"/>
                </a:solidFill>
                <a:latin typeface="Malgun Gothic"/>
              </a:rPr>
              <a:t>아목시실린캡슐 500mg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0" y="3300984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F3349"/>
                </a:solidFill>
                <a:latin typeface="Malgun Gothic"/>
              </a:rPr>
              <a:t>아목시실린수화물 574.5mg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0" y="3300984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F3349"/>
                </a:solidFill>
                <a:latin typeface="Malgun Gothic"/>
              </a:rPr>
              <a:t>1,200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0" y="330098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8C76F"/>
                </a:solidFill>
                <a:latin typeface="Malgun Gothic"/>
              </a:rPr>
              <a:t>✓ 재고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972800" y="3291839"/>
            <a:ext cx="914400" cy="246888"/>
          </a:xfrm>
          <a:prstGeom prst="rect">
            <a:avLst/>
          </a:prstGeom>
          <a:solidFill>
            <a:srgbClr val="736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972800" y="3310127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algun Gothic"/>
              </a:rPr>
              <a:t>선택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3227832"/>
            <a:ext cx="73152" cy="384048"/>
          </a:xfrm>
          <a:prstGeom prst="rect">
            <a:avLst/>
          </a:prstGeom>
          <a:solidFill>
            <a:srgbClr val="736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65760" y="3611879"/>
            <a:ext cx="11521440" cy="384048"/>
          </a:xfrm>
          <a:prstGeom prst="rect">
            <a:avLst/>
          </a:prstGeom>
          <a:solidFill>
            <a:srgbClr val="F8F7FA"/>
          </a:solidFill>
          <a:ln>
            <a:solidFill>
              <a:srgbClr val="E0D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60" y="3685031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F3349"/>
                </a:solidFill>
                <a:latin typeface="Malgun Gothic"/>
              </a:rPr>
              <a:t>CEF-250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645920" y="3685031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F3349"/>
                </a:solidFill>
                <a:latin typeface="Malgun Gothic"/>
              </a:rPr>
              <a:t>세파클러캡슐 250mg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0" y="3685031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F3349"/>
                </a:solidFill>
                <a:latin typeface="Malgun Gothic"/>
              </a:rPr>
              <a:t>세파클러 250mg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0" y="3685031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F3349"/>
                </a:solidFill>
                <a:latin typeface="Malgun Gothic"/>
              </a:rPr>
              <a:t>980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01200" y="3685031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8C76F"/>
                </a:solidFill>
                <a:latin typeface="Malgun Gothic"/>
              </a:rPr>
              <a:t>✓ 재고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972800" y="3675887"/>
            <a:ext cx="914400" cy="246888"/>
          </a:xfrm>
          <a:prstGeom prst="rect">
            <a:avLst/>
          </a:prstGeom>
          <a:solidFill>
            <a:srgbClr val="736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972800" y="3694176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algun Gothic"/>
              </a:rPr>
              <a:t>선택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5760" y="3995928"/>
            <a:ext cx="11521440" cy="384048"/>
          </a:xfrm>
          <a:prstGeom prst="rect">
            <a:avLst/>
          </a:prstGeom>
          <a:solidFill>
            <a:srgbClr val="FFFFFF"/>
          </a:solidFill>
          <a:ln>
            <a:solidFill>
              <a:srgbClr val="E0D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5760" y="406908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F3349"/>
                </a:solidFill>
                <a:latin typeface="Malgun Gothic"/>
              </a:rPr>
              <a:t>IBU-200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645920" y="406908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F3349"/>
                </a:solidFill>
                <a:latin typeface="Malgun Gothic"/>
              </a:rPr>
              <a:t>이부프로펜정 200mg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657600" y="4069080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F3349"/>
                </a:solidFill>
                <a:latin typeface="Malgun Gothic"/>
              </a:rPr>
              <a:t>이부프로펜 200mg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772400" y="406908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F3349"/>
                </a:solidFill>
                <a:latin typeface="Malgun Gothic"/>
              </a:rPr>
              <a:t>450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601200" y="406908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8C76F"/>
                </a:solidFill>
                <a:latin typeface="Malgun Gothic"/>
              </a:rPr>
              <a:t>✓ 재고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972800" y="4059936"/>
            <a:ext cx="914400" cy="246888"/>
          </a:xfrm>
          <a:prstGeom prst="rect">
            <a:avLst/>
          </a:prstGeom>
          <a:solidFill>
            <a:srgbClr val="736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972800" y="4078224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algun Gothic"/>
              </a:rPr>
              <a:t>선택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65760" y="4379976"/>
            <a:ext cx="11521440" cy="384048"/>
          </a:xfrm>
          <a:prstGeom prst="rect">
            <a:avLst/>
          </a:prstGeom>
          <a:solidFill>
            <a:srgbClr val="F8F7FA"/>
          </a:solidFill>
          <a:ln>
            <a:solidFill>
              <a:srgbClr val="E0D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65760" y="445312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F3349"/>
                </a:solidFill>
                <a:latin typeface="Malgun Gothic"/>
              </a:rPr>
              <a:t>MET-500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645920" y="4453128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F3349"/>
                </a:solidFill>
                <a:latin typeface="Malgun Gothic"/>
              </a:rPr>
              <a:t>메트포르민정 500mg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657600" y="4453128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F3349"/>
                </a:solidFill>
                <a:latin typeface="Malgun Gothic"/>
              </a:rPr>
              <a:t>메트포르민염산염 500mg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772400" y="445312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F3349"/>
                </a:solidFill>
                <a:latin typeface="Malgun Gothic"/>
              </a:rPr>
              <a:t>320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601200" y="445312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A5455"/>
                </a:solidFill>
                <a:latin typeface="Malgun Gothic"/>
              </a:rPr>
              <a:t>⚠ 재고부족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0972800" y="4443984"/>
            <a:ext cx="914400" cy="246888"/>
          </a:xfrm>
          <a:prstGeom prst="rect">
            <a:avLst/>
          </a:prstGeom>
          <a:solidFill>
            <a:srgbClr val="736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972800" y="446227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algun Gothic"/>
              </a:rPr>
              <a:t>선택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65760" y="4855464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E6B7B"/>
                </a:solidFill>
                <a:latin typeface="Malgun Gothic"/>
              </a:rPr>
              <a:t>※ 처방전 의약품명 기준 자동 검색 후 관리자 확인 선택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736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82880"/>
            <a:ext cx="59436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64592"/>
            <a:ext cx="594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7367F0"/>
                </a:solidFill>
                <a:latin typeface="Malgun Gothic"/>
              </a:rPr>
              <a:t>STEP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3716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algun Gothic"/>
              </a:rPr>
              <a:t>TodoWorks 판매주문 리스트 확인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CCFF"/>
                </a:solidFill>
                <a:latin typeface="Malgun Gothic"/>
              </a:rPr>
              <a:t>CE-Admin ↔ TodoWorks 주문 현황 실시간 연동 화면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5E5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188720"/>
            <a:ext cx="2103120" cy="1005840"/>
          </a:xfrm>
          <a:prstGeom prst="rect">
            <a:avLst/>
          </a:prstGeom>
          <a:solidFill>
            <a:srgbClr val="FFFFFF"/>
          </a:solidFill>
          <a:ln>
            <a:solidFill>
              <a:srgbClr val="E0D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188720"/>
            <a:ext cx="2103120" cy="64008"/>
          </a:xfrm>
          <a:prstGeom prst="rect">
            <a:avLst/>
          </a:prstGeom>
          <a:solidFill>
            <a:srgbClr val="736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2801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2F3349"/>
                </a:solidFill>
                <a:latin typeface="Malgun Gothic"/>
              </a:rPr>
              <a:t>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128016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200" b="1" i="0">
                <a:solidFill>
                  <a:srgbClr val="7367F0"/>
                </a:solidFill>
                <a:latin typeface="Malgun Gothic"/>
              </a:rPr>
              <a:t>1,284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78308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E6B7B"/>
                </a:solidFill>
                <a:latin typeface="Malgun Gothic"/>
              </a:rPr>
              <a:t>전체 주문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06040" y="1188720"/>
            <a:ext cx="2103120" cy="1005840"/>
          </a:xfrm>
          <a:prstGeom prst="rect">
            <a:avLst/>
          </a:prstGeom>
          <a:solidFill>
            <a:srgbClr val="FFFFFF"/>
          </a:solidFill>
          <a:ln>
            <a:solidFill>
              <a:srgbClr val="E0D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606040" y="1188720"/>
            <a:ext cx="2103120" cy="64008"/>
          </a:xfrm>
          <a:prstGeom prst="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0" y="12801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2F3349"/>
                </a:solidFill>
                <a:latin typeface="Malgun Gothic"/>
              </a:rPr>
              <a:t>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128016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200" b="1" i="0">
                <a:solidFill>
                  <a:srgbClr val="FF9F43"/>
                </a:solidFill>
                <a:latin typeface="Malgun Gothic"/>
              </a:rPr>
              <a:t>48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97480" y="178308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E6B7B"/>
                </a:solidFill>
                <a:latin typeface="Malgun Gothic"/>
              </a:rPr>
              <a:t>처리중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46320" y="1188720"/>
            <a:ext cx="2103120" cy="1005840"/>
          </a:xfrm>
          <a:prstGeom prst="rect">
            <a:avLst/>
          </a:prstGeom>
          <a:solidFill>
            <a:srgbClr val="FFFFFF"/>
          </a:solidFill>
          <a:ln>
            <a:solidFill>
              <a:srgbClr val="E0D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846320" y="1188720"/>
            <a:ext cx="2103120" cy="64008"/>
          </a:xfrm>
          <a:prstGeom prst="rect">
            <a:avLst/>
          </a:prstGeom>
          <a:solidFill>
            <a:srgbClr val="00C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83480" y="12801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2F3349"/>
                </a:solidFill>
                <a:latin typeface="Malgun Gothic"/>
              </a:rPr>
              <a:t>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0" y="128016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200" b="1" i="0">
                <a:solidFill>
                  <a:srgbClr val="00CFE8"/>
                </a:solidFill>
                <a:latin typeface="Malgun Gothic"/>
              </a:rPr>
              <a:t>156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37760" y="178308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E6B7B"/>
                </a:solidFill>
                <a:latin typeface="Malgun Gothic"/>
              </a:rPr>
              <a:t>배송중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086600" y="1188720"/>
            <a:ext cx="2103120" cy="1005840"/>
          </a:xfrm>
          <a:prstGeom prst="rect">
            <a:avLst/>
          </a:prstGeom>
          <a:solidFill>
            <a:srgbClr val="FFFFFF"/>
          </a:solidFill>
          <a:ln>
            <a:solidFill>
              <a:srgbClr val="E0D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086600" y="1188720"/>
            <a:ext cx="2103120" cy="64008"/>
          </a:xfrm>
          <a:prstGeom prst="rect">
            <a:avLst/>
          </a:prstGeom>
          <a:solidFill>
            <a:srgbClr val="28C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23760" y="12801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2F3349"/>
                </a:solidFill>
                <a:latin typeface="Malgun Gothic"/>
              </a:rPr>
              <a:t>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26680" y="128016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200" b="1" i="0">
                <a:solidFill>
                  <a:srgbClr val="28C76F"/>
                </a:solidFill>
                <a:latin typeface="Malgun Gothic"/>
              </a:rPr>
              <a:t>1,038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78040" y="178308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E6B7B"/>
                </a:solidFill>
                <a:latin typeface="Malgun Gothic"/>
              </a:rPr>
              <a:t>완료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326880" y="1188720"/>
            <a:ext cx="2103120" cy="1005840"/>
          </a:xfrm>
          <a:prstGeom prst="rect">
            <a:avLst/>
          </a:prstGeom>
          <a:solidFill>
            <a:srgbClr val="FFFFFF"/>
          </a:solidFill>
          <a:ln>
            <a:solidFill>
              <a:srgbClr val="E0D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326880" y="1188720"/>
            <a:ext cx="2103120" cy="64008"/>
          </a:xfrm>
          <a:prstGeom prst="rect">
            <a:avLst/>
          </a:prstGeom>
          <a:solidFill>
            <a:srgbClr val="EA5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464040" y="12801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2F3349"/>
                </a:solidFill>
                <a:latin typeface="Malgun Gothic"/>
              </a:rPr>
              <a:t>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66960" y="128016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200" b="1" i="0">
                <a:solidFill>
                  <a:srgbClr val="EA5455"/>
                </a:solidFill>
                <a:latin typeface="Malgun Gothic"/>
              </a:rPr>
              <a:t>42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18320" y="178308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E6B7B"/>
                </a:solidFill>
                <a:latin typeface="Malgun Gothic"/>
              </a:rPr>
              <a:t>반려/취소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2423160"/>
            <a:ext cx="11521440" cy="347472"/>
          </a:xfrm>
          <a:prstGeom prst="rect">
            <a:avLst/>
          </a:prstGeom>
          <a:solidFill>
            <a:srgbClr val="2F33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" y="2459736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algun Gothic"/>
              </a:rPr>
              <a:t>주문번호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737360" y="245973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algun Gothic"/>
              </a:rPr>
              <a:t>환자명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017520" y="2459736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algun Gothic"/>
              </a:rPr>
              <a:t>제품명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0" y="2459736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algun Gothic"/>
              </a:rPr>
              <a:t>수량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75120" y="2459736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algun Gothic"/>
              </a:rPr>
              <a:t>금액(원)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80960" y="2459736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algun Gothic"/>
              </a:rPr>
              <a:t>주문일시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509760" y="2459736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algun Gothic"/>
              </a:rPr>
              <a:t>상태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698480" y="2459736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algun Gothic"/>
              </a:rPr>
              <a:t>액션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5760" y="2770632"/>
            <a:ext cx="11521440" cy="365760"/>
          </a:xfrm>
          <a:prstGeom prst="rect">
            <a:avLst/>
          </a:prstGeom>
          <a:solidFill>
            <a:srgbClr val="FFFFFF"/>
          </a:solidFill>
          <a:ln>
            <a:solidFill>
              <a:srgbClr val="E0D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2834639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F3349"/>
                </a:solidFill>
                <a:latin typeface="Malgun Gothic"/>
              </a:rPr>
              <a:t>ORD-2458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737360" y="2834639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F3349"/>
                </a:solidFill>
                <a:latin typeface="Malgun Gothic"/>
              </a:rPr>
              <a:t>홍길동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017520" y="2834639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F3349"/>
                </a:solidFill>
                <a:latin typeface="Malgun Gothic"/>
              </a:rPr>
              <a:t>아목시실린캡슐 500mg × 21정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943600" y="2834639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F3349"/>
                </a:solidFill>
                <a:latin typeface="Malgun Gothic"/>
              </a:rPr>
              <a:t>21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675120" y="2834639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F3349"/>
                </a:solidFill>
                <a:latin typeface="Malgun Gothic"/>
              </a:rPr>
              <a:t>25,200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80960" y="2834639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F3349"/>
                </a:solidFill>
                <a:latin typeface="Malgun Gothic"/>
              </a:rPr>
              <a:t>05-08 14:23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509760" y="2834639"/>
            <a:ext cx="1097280" cy="237744"/>
          </a:xfrm>
          <a:prstGeom prst="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509760" y="2852927"/>
            <a:ext cx="1097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Malgun Gothic"/>
              </a:rPr>
              <a:t>처리중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0698480" y="2834639"/>
            <a:ext cx="1280160" cy="237744"/>
          </a:xfrm>
          <a:prstGeom prst="rect">
            <a:avLst/>
          </a:prstGeom>
          <a:solidFill>
            <a:srgbClr val="736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698480" y="2852927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Malgun Gothic"/>
              </a:rPr>
              <a:t>상세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136391"/>
            <a:ext cx="11521440" cy="365760"/>
          </a:xfrm>
          <a:prstGeom prst="rect">
            <a:avLst/>
          </a:prstGeom>
          <a:solidFill>
            <a:srgbClr val="F8F7FA"/>
          </a:solidFill>
          <a:ln>
            <a:solidFill>
              <a:srgbClr val="E0D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200399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F3349"/>
                </a:solidFill>
                <a:latin typeface="Malgun Gothic"/>
              </a:rPr>
              <a:t>ORD-2457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737360" y="3200399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F3349"/>
                </a:solidFill>
                <a:latin typeface="Malgun Gothic"/>
              </a:rPr>
              <a:t>김영희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017520" y="3200399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F3349"/>
                </a:solidFill>
                <a:latin typeface="Malgun Gothic"/>
              </a:rPr>
              <a:t>이부프로펜정 200mg × 60정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943600" y="3200399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F3349"/>
                </a:solidFill>
                <a:latin typeface="Malgun Gothic"/>
              </a:rPr>
              <a:t>60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675120" y="3200399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F3349"/>
                </a:solidFill>
                <a:latin typeface="Malgun Gothic"/>
              </a:rPr>
              <a:t>27,000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680960" y="3200399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F3349"/>
                </a:solidFill>
                <a:latin typeface="Malgun Gothic"/>
              </a:rPr>
              <a:t>05-08 13:55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509760" y="3200399"/>
            <a:ext cx="1097280" cy="237744"/>
          </a:xfrm>
          <a:prstGeom prst="rect">
            <a:avLst/>
          </a:prstGeom>
          <a:solidFill>
            <a:srgbClr val="00C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509760" y="3218687"/>
            <a:ext cx="1097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Malgun Gothic"/>
              </a:rPr>
              <a:t>배송중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0698480" y="3200399"/>
            <a:ext cx="1280160" cy="237744"/>
          </a:xfrm>
          <a:prstGeom prst="rect">
            <a:avLst/>
          </a:prstGeom>
          <a:solidFill>
            <a:srgbClr val="736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698480" y="3218687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Malgun Gothic"/>
              </a:rPr>
              <a:t>추적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65760" y="3502151"/>
            <a:ext cx="11521440" cy="365760"/>
          </a:xfrm>
          <a:prstGeom prst="rect">
            <a:avLst/>
          </a:prstGeom>
          <a:solidFill>
            <a:srgbClr val="FFFFFF"/>
          </a:solidFill>
          <a:ln>
            <a:solidFill>
              <a:srgbClr val="E0D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65760" y="3566159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F3349"/>
                </a:solidFill>
                <a:latin typeface="Malgun Gothic"/>
              </a:rPr>
              <a:t>ORD-2456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737360" y="3566159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F3349"/>
                </a:solidFill>
                <a:latin typeface="Malgun Gothic"/>
              </a:rPr>
              <a:t>이철수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017520" y="3566159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F3349"/>
                </a:solidFill>
                <a:latin typeface="Malgun Gothic"/>
              </a:rPr>
              <a:t>세파클러캡슐 250mg × 28정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943600" y="3566159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F3349"/>
                </a:solidFill>
                <a:latin typeface="Malgun Gothic"/>
              </a:rPr>
              <a:t>28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675120" y="3566159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F3349"/>
                </a:solidFill>
                <a:latin typeface="Malgun Gothic"/>
              </a:rPr>
              <a:t>27,440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680960" y="3566159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F3349"/>
                </a:solidFill>
                <a:latin typeface="Malgun Gothic"/>
              </a:rPr>
              <a:t>05-08 12:10</a:t>
            </a:r>
          </a:p>
        </p:txBody>
      </p:sp>
      <p:sp>
        <p:nvSpPr>
          <p:cNvPr id="72" name="Rectangle 71"/>
          <p:cNvSpPr/>
          <p:nvPr/>
        </p:nvSpPr>
        <p:spPr>
          <a:xfrm>
            <a:off x="9509760" y="3566159"/>
            <a:ext cx="1097280" cy="237744"/>
          </a:xfrm>
          <a:prstGeom prst="rect">
            <a:avLst/>
          </a:prstGeom>
          <a:solidFill>
            <a:srgbClr val="28C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509760" y="3584447"/>
            <a:ext cx="1097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Malgun Gothic"/>
              </a:rPr>
              <a:t>완료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0698480" y="3566159"/>
            <a:ext cx="1280160" cy="237744"/>
          </a:xfrm>
          <a:prstGeom prst="rect">
            <a:avLst/>
          </a:prstGeom>
          <a:solidFill>
            <a:srgbClr val="736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0698480" y="3584447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Malgun Gothic"/>
              </a:rPr>
              <a:t>확인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65760" y="3867911"/>
            <a:ext cx="11521440" cy="365760"/>
          </a:xfrm>
          <a:prstGeom prst="rect">
            <a:avLst/>
          </a:prstGeom>
          <a:solidFill>
            <a:srgbClr val="F8F7FA"/>
          </a:solidFill>
          <a:ln>
            <a:solidFill>
              <a:srgbClr val="E0D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65760" y="39319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F3349"/>
                </a:solidFill>
                <a:latin typeface="Malgun Gothic"/>
              </a:rPr>
              <a:t>ORD-2455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737360" y="39319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F3349"/>
                </a:solidFill>
                <a:latin typeface="Malgun Gothic"/>
              </a:rPr>
              <a:t>박지현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017520" y="393192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F3349"/>
                </a:solidFill>
                <a:latin typeface="Malgun Gothic"/>
              </a:rPr>
              <a:t>메트포르민정 500mg × 90정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943600" y="39319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F3349"/>
                </a:solidFill>
                <a:latin typeface="Malgun Gothic"/>
              </a:rPr>
              <a:t>90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675120" y="39319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F3349"/>
                </a:solidFill>
                <a:latin typeface="Malgun Gothic"/>
              </a:rPr>
              <a:t>28,800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680960" y="393192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F3349"/>
                </a:solidFill>
                <a:latin typeface="Malgun Gothic"/>
              </a:rPr>
              <a:t>05-08 10:30</a:t>
            </a:r>
          </a:p>
        </p:txBody>
      </p:sp>
      <p:sp>
        <p:nvSpPr>
          <p:cNvPr id="83" name="Rectangle 82"/>
          <p:cNvSpPr/>
          <p:nvPr/>
        </p:nvSpPr>
        <p:spPr>
          <a:xfrm>
            <a:off x="9509760" y="3931920"/>
            <a:ext cx="1097280" cy="237744"/>
          </a:xfrm>
          <a:prstGeom prst="rect">
            <a:avLst/>
          </a:prstGeom>
          <a:solidFill>
            <a:srgbClr val="00C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9509760" y="3950207"/>
            <a:ext cx="1097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Malgun Gothic"/>
              </a:rPr>
              <a:t>배송중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0698480" y="3931920"/>
            <a:ext cx="1280160" cy="237744"/>
          </a:xfrm>
          <a:prstGeom prst="rect">
            <a:avLst/>
          </a:prstGeom>
          <a:solidFill>
            <a:srgbClr val="736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0698480" y="3950207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Malgun Gothic"/>
              </a:rPr>
              <a:t>추적</a:t>
            </a:r>
          </a:p>
        </p:txBody>
      </p:sp>
      <p:sp>
        <p:nvSpPr>
          <p:cNvPr id="87" name="Rectangle 86"/>
          <p:cNvSpPr/>
          <p:nvPr/>
        </p:nvSpPr>
        <p:spPr>
          <a:xfrm>
            <a:off x="365760" y="4233672"/>
            <a:ext cx="11521440" cy="365760"/>
          </a:xfrm>
          <a:prstGeom prst="rect">
            <a:avLst/>
          </a:prstGeom>
          <a:solidFill>
            <a:srgbClr val="FFFFFF"/>
          </a:solidFill>
          <a:ln>
            <a:solidFill>
              <a:srgbClr val="E0D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365760" y="429768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F3349"/>
                </a:solidFill>
                <a:latin typeface="Malgun Gothic"/>
              </a:rPr>
              <a:t>ORD-2454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737360" y="429768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F3349"/>
                </a:solidFill>
                <a:latin typeface="Malgun Gothic"/>
              </a:rPr>
              <a:t>최민준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017520" y="429768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F3349"/>
                </a:solidFill>
                <a:latin typeface="Malgun Gothic"/>
              </a:rPr>
              <a:t>아목시실린캡슐 500mg × 14정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943600" y="429768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F3349"/>
                </a:solidFill>
                <a:latin typeface="Malgun Gothic"/>
              </a:rPr>
              <a:t>14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675120" y="42976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F3349"/>
                </a:solidFill>
                <a:latin typeface="Malgun Gothic"/>
              </a:rPr>
              <a:t>16,800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680960" y="429768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F3349"/>
                </a:solidFill>
                <a:latin typeface="Malgun Gothic"/>
              </a:rPr>
              <a:t>05-07 16:45</a:t>
            </a:r>
          </a:p>
        </p:txBody>
      </p:sp>
      <p:sp>
        <p:nvSpPr>
          <p:cNvPr id="94" name="Rectangle 93"/>
          <p:cNvSpPr/>
          <p:nvPr/>
        </p:nvSpPr>
        <p:spPr>
          <a:xfrm>
            <a:off x="9509760" y="4297680"/>
            <a:ext cx="1097280" cy="237744"/>
          </a:xfrm>
          <a:prstGeom prst="rect">
            <a:avLst/>
          </a:prstGeom>
          <a:solidFill>
            <a:srgbClr val="28C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9509760" y="4315968"/>
            <a:ext cx="1097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Malgun Gothic"/>
              </a:rPr>
              <a:t>완료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0698480" y="4297680"/>
            <a:ext cx="1280160" cy="237744"/>
          </a:xfrm>
          <a:prstGeom prst="rect">
            <a:avLst/>
          </a:prstGeom>
          <a:solidFill>
            <a:srgbClr val="736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10698480" y="4315968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Malgun Gothic"/>
              </a:rPr>
              <a:t>확인</a:t>
            </a:r>
          </a:p>
        </p:txBody>
      </p:sp>
      <p:sp>
        <p:nvSpPr>
          <p:cNvPr id="98" name="Rectangle 97"/>
          <p:cNvSpPr/>
          <p:nvPr/>
        </p:nvSpPr>
        <p:spPr>
          <a:xfrm>
            <a:off x="365760" y="4599432"/>
            <a:ext cx="11521440" cy="365760"/>
          </a:xfrm>
          <a:prstGeom prst="rect">
            <a:avLst/>
          </a:prstGeom>
          <a:solidFill>
            <a:srgbClr val="F8F7FA"/>
          </a:solidFill>
          <a:ln>
            <a:solidFill>
              <a:srgbClr val="E0D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365760" y="46634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F3349"/>
                </a:solidFill>
                <a:latin typeface="Malgun Gothic"/>
              </a:rPr>
              <a:t>ORD-2453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737360" y="466344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F3349"/>
                </a:solidFill>
                <a:latin typeface="Malgun Gothic"/>
              </a:rPr>
              <a:t>정수진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3017520" y="466344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F3349"/>
                </a:solidFill>
                <a:latin typeface="Malgun Gothic"/>
              </a:rPr>
              <a:t>이부프로펜정 200mg × 30정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5943600" y="46634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F3349"/>
                </a:solidFill>
                <a:latin typeface="Malgun Gothic"/>
              </a:rPr>
              <a:t>30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675120" y="46634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F3349"/>
                </a:solidFill>
                <a:latin typeface="Malgun Gothic"/>
              </a:rPr>
              <a:t>13,500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7680960" y="466344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F3349"/>
                </a:solidFill>
                <a:latin typeface="Malgun Gothic"/>
              </a:rPr>
              <a:t>05-07 14:20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9509760" y="4663440"/>
            <a:ext cx="1097280" cy="237744"/>
          </a:xfrm>
          <a:prstGeom prst="rect">
            <a:avLst/>
          </a:prstGeom>
          <a:solidFill>
            <a:srgbClr val="EA5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9509760" y="4681728"/>
            <a:ext cx="1097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Malgun Gothic"/>
              </a:rPr>
              <a:t>취소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10698480" y="4663440"/>
            <a:ext cx="1280160" cy="237744"/>
          </a:xfrm>
          <a:prstGeom prst="rect">
            <a:avLst/>
          </a:prstGeom>
          <a:solidFill>
            <a:srgbClr val="736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10698480" y="4681728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Malgun Gothic"/>
              </a:rPr>
              <a:t>확인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365760" y="5010912"/>
            <a:ext cx="11521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E6B7B"/>
                </a:solidFill>
                <a:latin typeface="Malgun Gothic"/>
              </a:rPr>
              <a:t>※ TodoWorks API 실시간 연동 — 주문 상태 자동 갱신 (30초 폴링)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736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82880"/>
            <a:ext cx="59436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64592"/>
            <a:ext cx="594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7367F0"/>
                </a:solidFill>
                <a:latin typeface="Malgun Gothic"/>
              </a:rPr>
              <a:t>STEP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3716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algun Gothic"/>
              </a:rPr>
              <a:t>입금 확인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CCFF"/>
                </a:solidFill>
                <a:latin typeface="Malgun Gothic"/>
              </a:rPr>
              <a:t>결제 처리 현황 — 연계 준비중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5E5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371600" y="1463040"/>
            <a:ext cx="9144000" cy="1097280"/>
          </a:xfrm>
          <a:prstGeom prst="rect">
            <a:avLst/>
          </a:prstGeom>
          <a:solidFill>
            <a:srgbClr val="FFF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371600" y="1463040"/>
            <a:ext cx="182880" cy="1097280"/>
          </a:xfrm>
          <a:prstGeom prst="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45920" y="1600200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9F43"/>
                </a:solidFill>
                <a:latin typeface="Malgun Gothic"/>
              </a:rPr>
              <a:t>⚠  미시연 항목 — 연계 준비중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834640"/>
            <a:ext cx="5486400" cy="3474720"/>
          </a:xfrm>
          <a:prstGeom prst="rect">
            <a:avLst/>
          </a:prstGeom>
          <a:solidFill>
            <a:srgbClr val="FFFFFF"/>
          </a:solidFill>
          <a:ln>
            <a:solidFill>
              <a:srgbClr val="E0D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2834640"/>
            <a:ext cx="5486400" cy="64008"/>
          </a:xfrm>
          <a:prstGeom prst="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92608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9F43"/>
                </a:solidFill>
                <a:latin typeface="Malgun Gothic"/>
              </a:rPr>
              <a:t>💳  구현 예정 기능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337560"/>
            <a:ext cx="5212080" cy="2834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E6B7B"/>
                </a:solidFill>
                <a:latin typeface="Malgun Gothic"/>
              </a:rPr>
              <a:t>• 가상계좌 발급 및 입금 대기 처리</a:t>
            </a:r>
          </a:p>
          <a:p>
            <a:pPr algn="l"/>
            <a:r>
              <a:rPr sz="1200" b="0">
                <a:solidFill>
                  <a:srgbClr val="6E6B7B"/>
                </a:solidFill>
                <a:latin typeface="Malgun Gothic"/>
              </a:rPr>
              <a:t>• 무통장 입금 확인 (은행 API 연동)</a:t>
            </a:r>
          </a:p>
          <a:p>
            <a:pPr algn="l"/>
            <a:r>
              <a:rPr sz="1200" b="0">
                <a:solidFill>
                  <a:srgbClr val="6E6B7B"/>
                </a:solidFill>
                <a:latin typeface="Malgun Gothic"/>
              </a:rPr>
              <a:t>• 카드 결제 승인 조회</a:t>
            </a:r>
          </a:p>
          <a:p>
            <a:pPr algn="l"/>
            <a:r>
              <a:rPr sz="1200" b="0">
                <a:solidFill>
                  <a:srgbClr val="6E6B7B"/>
                </a:solidFill>
                <a:latin typeface="Malgun Gothic"/>
              </a:rPr>
              <a:t>• 실시간 입금 알림 (SMS/앱 푸시)</a:t>
            </a:r>
          </a:p>
          <a:p>
            <a:pPr algn="l"/>
            <a:r>
              <a:rPr sz="1200" b="0">
                <a:solidFill>
                  <a:srgbClr val="6E6B7B"/>
                </a:solidFill>
                <a:latin typeface="Malgun Gothic"/>
              </a:rPr>
              <a:t>• 입금 이력 관리 및 영수증 발행</a:t>
            </a:r>
          </a:p>
          <a:p>
            <a:pPr algn="l"/>
            <a:r>
              <a:rPr sz="1200" b="0">
                <a:solidFill>
                  <a:srgbClr val="6E6B7B"/>
                </a:solidFill>
                <a:latin typeface="Malgun Gothic"/>
              </a:rPr>
              <a:t>• 미입금 자동 취소 처리 (D+3)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2834640"/>
            <a:ext cx="5760720" cy="3474720"/>
          </a:xfrm>
          <a:prstGeom prst="rect">
            <a:avLst/>
          </a:prstGeom>
          <a:solidFill>
            <a:srgbClr val="FFFFFF"/>
          </a:solidFill>
          <a:ln>
            <a:solidFill>
              <a:srgbClr val="E0D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26480" y="2834640"/>
            <a:ext cx="5760720" cy="64008"/>
          </a:xfrm>
          <a:prstGeom prst="rect">
            <a:avLst/>
          </a:prstGeom>
          <a:solidFill>
            <a:srgbClr val="00C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2926080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FE8"/>
                </a:solidFill>
                <a:latin typeface="Malgun Gothic"/>
              </a:rPr>
              <a:t>🏦  연계 예정 시스템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3337560"/>
            <a:ext cx="5486400" cy="2834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E6B7B"/>
                </a:solidFill>
                <a:latin typeface="Malgun Gothic"/>
              </a:rPr>
              <a:t>• PG사 결제 API (토스페이먼츠/KG이니시스)</a:t>
            </a:r>
          </a:p>
          <a:p>
            <a:pPr algn="l"/>
            <a:r>
              <a:rPr sz="1200" b="0">
                <a:solidFill>
                  <a:srgbClr val="6E6B7B"/>
                </a:solidFill>
                <a:latin typeface="Malgun Gothic"/>
              </a:rPr>
              <a:t>• 은행 오픈뱅킹 API</a:t>
            </a:r>
          </a:p>
          <a:p>
            <a:pPr algn="l"/>
            <a:r>
              <a:rPr sz="1200" b="0">
                <a:solidFill>
                  <a:srgbClr val="6E6B7B"/>
                </a:solidFill>
                <a:latin typeface="Malgun Gothic"/>
              </a:rPr>
              <a:t>• 실시간 계좌 조회 서비스</a:t>
            </a:r>
          </a:p>
          <a:p>
            <a:pPr algn="l"/>
            <a:r>
              <a:rPr sz="1200" b="0">
                <a:solidFill>
                  <a:srgbClr val="6E6B7B"/>
                </a:solidFill>
                <a:latin typeface="Malgun Gothic"/>
              </a:rPr>
              <a:t/>
            </a:r>
          </a:p>
          <a:p>
            <a:pPr algn="l"/>
            <a:r>
              <a:rPr sz="1200" b="0">
                <a:solidFill>
                  <a:srgbClr val="6E6B7B"/>
                </a:solidFill>
                <a:latin typeface="Malgun Gothic"/>
              </a:rPr>
              <a:t>예상 완료: 2026년 Q3</a:t>
            </a:r>
          </a:p>
          <a:p>
            <a:pPr algn="l"/>
            <a:r>
              <a:rPr sz="1200" b="0">
                <a:solidFill>
                  <a:srgbClr val="6E6B7B"/>
                </a:solidFill>
                <a:latin typeface="Malgun Gothic"/>
              </a:rPr>
              <a:t>담당: 개발팀 협의 중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736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82880"/>
            <a:ext cx="59436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64592"/>
            <a:ext cx="594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7367F0"/>
                </a:solidFill>
                <a:latin typeface="Malgun Gothic"/>
              </a:rPr>
              <a:t>STEP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3716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algun Gothic"/>
              </a:rPr>
              <a:t>현금영수증 발행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CCFF"/>
                </a:solidFill>
                <a:latin typeface="Malgun Gothic"/>
              </a:rPr>
              <a:t>팝빌 현금영수증 API 연계 — 발행 및 이력 관리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5E5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188720"/>
            <a:ext cx="2743200" cy="548640"/>
          </a:xfrm>
          <a:prstGeom prst="rect">
            <a:avLst/>
          </a:prstGeom>
          <a:solidFill>
            <a:srgbClr val="006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1887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algun Gothic"/>
              </a:rPr>
              <a:t>POPBILL API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920240"/>
            <a:ext cx="566928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E0D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1920240"/>
            <a:ext cx="5669280" cy="411480"/>
          </a:xfrm>
          <a:prstGeom prst="rect">
            <a:avLst/>
          </a:prstGeom>
          <a:solidFill>
            <a:srgbClr val="28C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19659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algun Gothic"/>
              </a:rPr>
              <a:t>현금영수증 발행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468880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E6B7B"/>
                </a:solidFill>
                <a:latin typeface="Malgun Gothic"/>
              </a:rPr>
              <a:t>거래구분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97480" y="2487168"/>
            <a:ext cx="3154680" cy="274320"/>
          </a:xfrm>
          <a:prstGeom prst="rect">
            <a:avLst/>
          </a:prstGeom>
          <a:solidFill>
            <a:srgbClr val="F8F7FA"/>
          </a:solidFill>
          <a:ln>
            <a:solidFill>
              <a:srgbClr val="E0D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0" y="2505456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F3349"/>
                </a:solidFill>
                <a:latin typeface="Malgun Gothic"/>
              </a:rPr>
              <a:t>소득공제용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2834640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E6B7B"/>
                </a:solidFill>
                <a:latin typeface="Malgun Gothic"/>
              </a:rPr>
              <a:t>거래일자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97480" y="2852928"/>
            <a:ext cx="3154680" cy="274320"/>
          </a:xfrm>
          <a:prstGeom prst="rect">
            <a:avLst/>
          </a:prstGeom>
          <a:solidFill>
            <a:srgbClr val="F8F7FA"/>
          </a:solidFill>
          <a:ln>
            <a:solidFill>
              <a:srgbClr val="E0D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0" y="2871216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F3349"/>
                </a:solidFill>
                <a:latin typeface="Malgun Gothic"/>
              </a:rPr>
              <a:t>2026-05-08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200400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E6B7B"/>
                </a:solidFill>
                <a:latin typeface="Malgun Gothic"/>
              </a:rPr>
              <a:t>공급가액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97480" y="3218688"/>
            <a:ext cx="3154680" cy="274320"/>
          </a:xfrm>
          <a:prstGeom prst="rect">
            <a:avLst/>
          </a:prstGeom>
          <a:solidFill>
            <a:srgbClr val="F8F7FA"/>
          </a:solidFill>
          <a:ln>
            <a:solidFill>
              <a:srgbClr val="E0D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0" y="3236976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F3349"/>
                </a:solidFill>
                <a:latin typeface="Malgun Gothic"/>
              </a:rPr>
              <a:t>22,909원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3566160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E6B7B"/>
                </a:solidFill>
                <a:latin typeface="Malgun Gothic"/>
              </a:rPr>
              <a:t>부가세액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97480" y="3584448"/>
            <a:ext cx="3154680" cy="274320"/>
          </a:xfrm>
          <a:prstGeom prst="rect">
            <a:avLst/>
          </a:prstGeom>
          <a:solidFill>
            <a:srgbClr val="F8F7FA"/>
          </a:solidFill>
          <a:ln>
            <a:solidFill>
              <a:srgbClr val="E0D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43200" y="3602736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F3349"/>
                </a:solidFill>
                <a:latin typeface="Malgun Gothic"/>
              </a:rPr>
              <a:t>2,291원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3931920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E6B7B"/>
                </a:solidFill>
                <a:latin typeface="Malgun Gothic"/>
              </a:rPr>
              <a:t>합  계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697480" y="3950207"/>
            <a:ext cx="3154680" cy="274320"/>
          </a:xfrm>
          <a:prstGeom prst="rect">
            <a:avLst/>
          </a:prstGeom>
          <a:solidFill>
            <a:srgbClr val="F8F7FA"/>
          </a:solidFill>
          <a:ln>
            <a:solidFill>
              <a:srgbClr val="E0D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43200" y="3968496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F3349"/>
                </a:solidFill>
                <a:latin typeface="Malgun Gothic"/>
              </a:rPr>
              <a:t>25,200원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4297680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E6B7B"/>
                </a:solidFill>
                <a:latin typeface="Malgun Gothic"/>
              </a:rPr>
              <a:t>식별번호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697480" y="4315968"/>
            <a:ext cx="3154680" cy="274320"/>
          </a:xfrm>
          <a:prstGeom prst="rect">
            <a:avLst/>
          </a:prstGeom>
          <a:solidFill>
            <a:srgbClr val="F8F7FA"/>
          </a:solidFill>
          <a:ln>
            <a:solidFill>
              <a:srgbClr val="E0D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0" y="4334256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F3349"/>
                </a:solidFill>
                <a:latin typeface="Malgun Gothic"/>
              </a:rPr>
              <a:t>010-1234-5678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4663440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E6B7B"/>
                </a:solidFill>
                <a:latin typeface="Malgun Gothic"/>
              </a:rPr>
              <a:t>거래유형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697480" y="4681728"/>
            <a:ext cx="3154680" cy="274320"/>
          </a:xfrm>
          <a:prstGeom prst="rect">
            <a:avLst/>
          </a:prstGeom>
          <a:solidFill>
            <a:srgbClr val="F8F7FA"/>
          </a:solidFill>
          <a:ln>
            <a:solidFill>
              <a:srgbClr val="E0D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0" y="4700016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F3349"/>
                </a:solidFill>
                <a:latin typeface="Malgun Gothic"/>
              </a:rPr>
              <a:t>승인거래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5760720"/>
            <a:ext cx="2377440" cy="411480"/>
          </a:xfrm>
          <a:prstGeom prst="rect">
            <a:avLst/>
          </a:prstGeom>
          <a:solidFill>
            <a:srgbClr val="28C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5779008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algun Gothic"/>
              </a:rPr>
              <a:t>발행 요청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017520" y="5760720"/>
            <a:ext cx="2834640" cy="411480"/>
          </a:xfrm>
          <a:prstGeom prst="rect">
            <a:avLst/>
          </a:prstGeom>
          <a:solidFill>
            <a:srgbClr val="736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017520" y="5779008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algun Gothic"/>
              </a:rPr>
              <a:t>발행 이력 조회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17920" y="1920240"/>
            <a:ext cx="5669280" cy="411480"/>
          </a:xfrm>
          <a:prstGeom prst="rect">
            <a:avLst/>
          </a:prstGeom>
          <a:solidFill>
            <a:srgbClr val="28C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55080" y="19659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algun Gothic"/>
              </a:rPr>
              <a:t>발행 이력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17920" y="2423160"/>
            <a:ext cx="5669280" cy="320040"/>
          </a:xfrm>
          <a:prstGeom prst="rect">
            <a:avLst/>
          </a:prstGeom>
          <a:solidFill>
            <a:srgbClr val="2F33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17920" y="2450591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algun Gothic"/>
              </a:rPr>
              <a:t>발행일시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80960" y="2450591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algun Gothic"/>
              </a:rPr>
              <a:t>금액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0" y="2450591"/>
            <a:ext cx="1691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algun Gothic"/>
              </a:rPr>
              <a:t>식별번호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881360" y="2450591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algun Gothic"/>
              </a:rPr>
              <a:t>상태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17920" y="2743200"/>
            <a:ext cx="5669280" cy="338328"/>
          </a:xfrm>
          <a:prstGeom prst="rect">
            <a:avLst/>
          </a:prstGeom>
          <a:solidFill>
            <a:srgbClr val="FFFFFF"/>
          </a:solidFill>
          <a:ln>
            <a:solidFill>
              <a:srgbClr val="E0D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17920" y="2788920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F3349"/>
                </a:solidFill>
                <a:latin typeface="Malgun Gothic"/>
              </a:rPr>
              <a:t>05-08 14:30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80960" y="2788920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F3349"/>
                </a:solidFill>
                <a:latin typeface="Malgun Gothic"/>
              </a:rPr>
              <a:t>25,200원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44000" y="2788920"/>
            <a:ext cx="1691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F3349"/>
                </a:solidFill>
                <a:latin typeface="Malgun Gothic"/>
              </a:rPr>
              <a:t>010-1234-5678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881360" y="2788920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8C76F"/>
                </a:solidFill>
                <a:latin typeface="Malgun Gothic"/>
              </a:rPr>
              <a:t>발행완료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217920" y="3081528"/>
            <a:ext cx="5669280" cy="338328"/>
          </a:xfrm>
          <a:prstGeom prst="rect">
            <a:avLst/>
          </a:prstGeom>
          <a:solidFill>
            <a:srgbClr val="F8F7FA"/>
          </a:solidFill>
          <a:ln>
            <a:solidFill>
              <a:srgbClr val="E0D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217920" y="3127248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F3349"/>
                </a:solidFill>
                <a:latin typeface="Malgun Gothic"/>
              </a:rPr>
              <a:t>05-07 11:15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680960" y="3127248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F3349"/>
                </a:solidFill>
                <a:latin typeface="Malgun Gothic"/>
              </a:rPr>
              <a:t>18,500원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144000" y="3127248"/>
            <a:ext cx="1691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F3349"/>
                </a:solidFill>
                <a:latin typeface="Malgun Gothic"/>
              </a:rPr>
              <a:t>010-9876-5432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881360" y="3127248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8C76F"/>
                </a:solidFill>
                <a:latin typeface="Malgun Gothic"/>
              </a:rPr>
              <a:t>발행완료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217920" y="3419856"/>
            <a:ext cx="5669280" cy="338328"/>
          </a:xfrm>
          <a:prstGeom prst="rect">
            <a:avLst/>
          </a:prstGeom>
          <a:solidFill>
            <a:srgbClr val="FFFFFF"/>
          </a:solidFill>
          <a:ln>
            <a:solidFill>
              <a:srgbClr val="E0D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217920" y="3465576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F3349"/>
                </a:solidFill>
                <a:latin typeface="Malgun Gothic"/>
              </a:rPr>
              <a:t>05-06 16:42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680960" y="3465576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F3349"/>
                </a:solidFill>
                <a:latin typeface="Malgun Gothic"/>
              </a:rPr>
              <a:t>32,000원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144000" y="3465576"/>
            <a:ext cx="1691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F3349"/>
                </a:solidFill>
                <a:latin typeface="Malgun Gothic"/>
              </a:rPr>
              <a:t>010-1111-2222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881360" y="3465576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8C76F"/>
                </a:solidFill>
                <a:latin typeface="Malgun Gothic"/>
              </a:rPr>
              <a:t>발행완료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217920" y="3758184"/>
            <a:ext cx="5669280" cy="338328"/>
          </a:xfrm>
          <a:prstGeom prst="rect">
            <a:avLst/>
          </a:prstGeom>
          <a:solidFill>
            <a:srgbClr val="F8F7FA"/>
          </a:solidFill>
          <a:ln>
            <a:solidFill>
              <a:srgbClr val="E0D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217920" y="3803904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F3349"/>
                </a:solidFill>
                <a:latin typeface="Malgun Gothic"/>
              </a:rPr>
              <a:t>05-05 09:20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680960" y="3803904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F3349"/>
                </a:solidFill>
                <a:latin typeface="Malgun Gothic"/>
              </a:rPr>
              <a:t>12,900원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144000" y="3803904"/>
            <a:ext cx="1691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F3349"/>
                </a:solidFill>
                <a:latin typeface="Malgun Gothic"/>
              </a:rPr>
              <a:t>010-3333-4444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881360" y="3803904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EA5455"/>
                </a:solidFill>
                <a:latin typeface="Malgun Gothic"/>
              </a:rPr>
              <a:t>취소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217920" y="4096512"/>
            <a:ext cx="5669280" cy="338328"/>
          </a:xfrm>
          <a:prstGeom prst="rect">
            <a:avLst/>
          </a:prstGeom>
          <a:solidFill>
            <a:srgbClr val="FFFFFF"/>
          </a:solidFill>
          <a:ln>
            <a:solidFill>
              <a:srgbClr val="E0D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217920" y="4142232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F3349"/>
                </a:solidFill>
                <a:latin typeface="Malgun Gothic"/>
              </a:rPr>
              <a:t>05-04 14:05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680960" y="4142232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F3349"/>
                </a:solidFill>
                <a:latin typeface="Malgun Gothic"/>
              </a:rPr>
              <a:t>45,600원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144000" y="4142232"/>
            <a:ext cx="1691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F3349"/>
                </a:solidFill>
                <a:latin typeface="Malgun Gothic"/>
              </a:rPr>
              <a:t>010-5555-6666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881360" y="4142232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8C76F"/>
                </a:solidFill>
                <a:latin typeface="Malgun Gothic"/>
              </a:rPr>
              <a:t>발행완료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217920" y="4434840"/>
            <a:ext cx="5669280" cy="338328"/>
          </a:xfrm>
          <a:prstGeom prst="rect">
            <a:avLst/>
          </a:prstGeom>
          <a:solidFill>
            <a:srgbClr val="F8F7FA"/>
          </a:solidFill>
          <a:ln>
            <a:solidFill>
              <a:srgbClr val="E0D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217920" y="4480560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F3349"/>
                </a:solidFill>
                <a:latin typeface="Malgun Gothic"/>
              </a:rPr>
              <a:t>05-03 10:33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680960" y="4480560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F3349"/>
                </a:solidFill>
                <a:latin typeface="Malgun Gothic"/>
              </a:rPr>
              <a:t>8,000원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144000" y="4480560"/>
            <a:ext cx="1691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F3349"/>
                </a:solidFill>
                <a:latin typeface="Malgun Gothic"/>
              </a:rPr>
              <a:t>010-7777-8888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881360" y="4480560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8C76F"/>
                </a:solidFill>
                <a:latin typeface="Malgun Gothic"/>
              </a:rPr>
              <a:t>발행완료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217920" y="4773168"/>
            <a:ext cx="5669280" cy="338328"/>
          </a:xfrm>
          <a:prstGeom prst="rect">
            <a:avLst/>
          </a:prstGeom>
          <a:solidFill>
            <a:srgbClr val="FFFFFF"/>
          </a:solidFill>
          <a:ln>
            <a:solidFill>
              <a:srgbClr val="E0D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217920" y="4818888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F3349"/>
                </a:solidFill>
                <a:latin typeface="Malgun Gothic"/>
              </a:rPr>
              <a:t>05-02 15:58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680960" y="4818888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F3349"/>
                </a:solidFill>
                <a:latin typeface="Malgun Gothic"/>
              </a:rPr>
              <a:t>29,400원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144000" y="4818888"/>
            <a:ext cx="1691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F3349"/>
                </a:solidFill>
                <a:latin typeface="Malgun Gothic"/>
              </a:rPr>
              <a:t>010-9999-0000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881360" y="4818888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8C76F"/>
                </a:solidFill>
                <a:latin typeface="Malgun Gothic"/>
              </a:rPr>
              <a:t>발행완료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736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82880"/>
            <a:ext cx="59436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64592"/>
            <a:ext cx="594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7367F0"/>
                </a:solidFill>
                <a:latin typeface="Malgun Gothic"/>
              </a:rPr>
              <a:t>STEP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3716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algun Gothic"/>
              </a:rPr>
              <a:t>세금계산서 발행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CCFF"/>
                </a:solidFill>
                <a:latin typeface="Malgun Gothic"/>
              </a:rPr>
              <a:t>팝빌 세금계산서 API 연계 — 전자 세금계산서 발행 및 이력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5E5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188720"/>
            <a:ext cx="5669280" cy="5303520"/>
          </a:xfrm>
          <a:prstGeom prst="rect">
            <a:avLst/>
          </a:prstGeom>
          <a:solidFill>
            <a:srgbClr val="FFFFFF"/>
          </a:solidFill>
          <a:ln>
            <a:solidFill>
              <a:srgbClr val="E0D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188720"/>
            <a:ext cx="5669280" cy="411480"/>
          </a:xfrm>
          <a:prstGeom prst="rect">
            <a:avLst/>
          </a:prstGeom>
          <a:solidFill>
            <a:srgbClr val="736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2344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algun Gothic"/>
              </a:rPr>
              <a:t>세금계산서 발행 양식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783080"/>
            <a:ext cx="5486400" cy="292608"/>
          </a:xfrm>
          <a:prstGeom prst="rect">
            <a:avLst/>
          </a:prstGeom>
          <a:solidFill>
            <a:srgbClr val="EDE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1819656"/>
            <a:ext cx="5303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367F0"/>
                </a:solidFill>
                <a:latin typeface="Malgun Gothic"/>
              </a:rPr>
              <a:t>공급자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093976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E6B7B"/>
                </a:solidFill>
                <a:latin typeface="Malgun Gothic"/>
              </a:rPr>
              <a:t>사업자번호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51760" y="2103120"/>
            <a:ext cx="3200400" cy="256032"/>
          </a:xfrm>
          <a:prstGeom prst="rect">
            <a:avLst/>
          </a:prstGeom>
          <a:solidFill>
            <a:srgbClr val="F8F7FA"/>
          </a:solidFill>
          <a:ln>
            <a:solidFill>
              <a:srgbClr val="E0D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97480" y="2121408"/>
            <a:ext cx="3017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F3349"/>
                </a:solidFill>
                <a:latin typeface="Malgun Gothic"/>
              </a:rPr>
              <a:t>123-45-67890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240487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E6B7B"/>
                </a:solidFill>
                <a:latin typeface="Malgun Gothic"/>
              </a:rPr>
              <a:t>상호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51760" y="2414015"/>
            <a:ext cx="3200400" cy="256032"/>
          </a:xfrm>
          <a:prstGeom prst="rect">
            <a:avLst/>
          </a:prstGeom>
          <a:solidFill>
            <a:srgbClr val="F8F7FA"/>
          </a:solidFill>
          <a:ln>
            <a:solidFill>
              <a:srgbClr val="E0D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97480" y="2432303"/>
            <a:ext cx="3017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F3349"/>
                </a:solidFill>
                <a:latin typeface="Malgun Gothic"/>
              </a:rPr>
              <a:t>(주)CE헬스케어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271576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E6B7B"/>
                </a:solidFill>
                <a:latin typeface="Malgun Gothic"/>
              </a:rPr>
              <a:t>대표자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51760" y="2724911"/>
            <a:ext cx="3200400" cy="256032"/>
          </a:xfrm>
          <a:prstGeom prst="rect">
            <a:avLst/>
          </a:prstGeom>
          <a:solidFill>
            <a:srgbClr val="F8F7FA"/>
          </a:solidFill>
          <a:ln>
            <a:solidFill>
              <a:srgbClr val="E0D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697480" y="2743199"/>
            <a:ext cx="3017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F3349"/>
                </a:solidFill>
                <a:latin typeface="Malgun Gothic"/>
              </a:rPr>
              <a:t>홍길동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008375"/>
            <a:ext cx="5486400" cy="292608"/>
          </a:xfrm>
          <a:prstGeom prst="rect">
            <a:avLst/>
          </a:prstGeom>
          <a:solidFill>
            <a:srgbClr val="EDE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3044951"/>
            <a:ext cx="5303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367F0"/>
                </a:solidFill>
                <a:latin typeface="Malgun Gothic"/>
              </a:rPr>
              <a:t>공급받는자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3319271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E6B7B"/>
                </a:solidFill>
                <a:latin typeface="Malgun Gothic"/>
              </a:rPr>
              <a:t>사업자번호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651760" y="3328415"/>
            <a:ext cx="3200400" cy="256032"/>
          </a:xfrm>
          <a:prstGeom prst="rect">
            <a:avLst/>
          </a:prstGeom>
          <a:solidFill>
            <a:srgbClr val="F8F7FA"/>
          </a:solidFill>
          <a:ln>
            <a:solidFill>
              <a:srgbClr val="E0D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697480" y="3346703"/>
            <a:ext cx="3017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F3349"/>
                </a:solidFill>
                <a:latin typeface="Malgun Gothic"/>
              </a:rPr>
              <a:t>987-65-43210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3630167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E6B7B"/>
                </a:solidFill>
                <a:latin typeface="Malgun Gothic"/>
              </a:rPr>
              <a:t>상호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651760" y="3639311"/>
            <a:ext cx="3200400" cy="256032"/>
          </a:xfrm>
          <a:prstGeom prst="rect">
            <a:avLst/>
          </a:prstGeom>
          <a:solidFill>
            <a:srgbClr val="F8F7FA"/>
          </a:solidFill>
          <a:ln>
            <a:solidFill>
              <a:srgbClr val="E0D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697480" y="3657599"/>
            <a:ext cx="3017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F3349"/>
                </a:solidFill>
                <a:latin typeface="Malgun Gothic"/>
              </a:rPr>
              <a:t>강남내과의원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3941063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E6B7B"/>
                </a:solidFill>
                <a:latin typeface="Malgun Gothic"/>
              </a:rPr>
              <a:t>이메일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651760" y="3950207"/>
            <a:ext cx="3200400" cy="256032"/>
          </a:xfrm>
          <a:prstGeom prst="rect">
            <a:avLst/>
          </a:prstGeom>
          <a:solidFill>
            <a:srgbClr val="F8F7FA"/>
          </a:solidFill>
          <a:ln>
            <a:solidFill>
              <a:srgbClr val="E0D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697480" y="3968495"/>
            <a:ext cx="3017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F3349"/>
                </a:solidFill>
                <a:latin typeface="Malgun Gothic"/>
              </a:rPr>
              <a:t>clinic@example.com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4233671"/>
            <a:ext cx="5486400" cy="292608"/>
          </a:xfrm>
          <a:prstGeom prst="rect">
            <a:avLst/>
          </a:prstGeom>
          <a:solidFill>
            <a:srgbClr val="EDE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4270247"/>
            <a:ext cx="5303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367F0"/>
                </a:solidFill>
                <a:latin typeface="Malgun Gothic"/>
              </a:rPr>
              <a:t>공급 내역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" y="4544567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E6B7B"/>
                </a:solidFill>
                <a:latin typeface="Malgun Gothic"/>
              </a:rPr>
              <a:t>작성일자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651760" y="4553712"/>
            <a:ext cx="3200400" cy="256032"/>
          </a:xfrm>
          <a:prstGeom prst="rect">
            <a:avLst/>
          </a:prstGeom>
          <a:solidFill>
            <a:srgbClr val="F8F7FA"/>
          </a:solidFill>
          <a:ln>
            <a:solidFill>
              <a:srgbClr val="E0D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697480" y="4571999"/>
            <a:ext cx="3017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F3349"/>
                </a:solidFill>
                <a:latin typeface="Malgun Gothic"/>
              </a:rPr>
              <a:t>2026-05-08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4360" y="4855463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E6B7B"/>
                </a:solidFill>
                <a:latin typeface="Malgun Gothic"/>
              </a:rPr>
              <a:t>공급가액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651760" y="4864607"/>
            <a:ext cx="3200400" cy="256032"/>
          </a:xfrm>
          <a:prstGeom prst="rect">
            <a:avLst/>
          </a:prstGeom>
          <a:solidFill>
            <a:srgbClr val="F8F7FA"/>
          </a:solidFill>
          <a:ln>
            <a:solidFill>
              <a:srgbClr val="E0D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697480" y="4882895"/>
            <a:ext cx="3017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F3349"/>
                </a:solidFill>
                <a:latin typeface="Malgun Gothic"/>
              </a:rPr>
              <a:t>22,909원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4360" y="5166359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E6B7B"/>
                </a:solidFill>
                <a:latin typeface="Malgun Gothic"/>
              </a:rPr>
              <a:t>세액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651760" y="5175503"/>
            <a:ext cx="3200400" cy="256032"/>
          </a:xfrm>
          <a:prstGeom prst="rect">
            <a:avLst/>
          </a:prstGeom>
          <a:solidFill>
            <a:srgbClr val="F8F7FA"/>
          </a:solidFill>
          <a:ln>
            <a:solidFill>
              <a:srgbClr val="E0D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697480" y="5193791"/>
            <a:ext cx="3017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F3349"/>
                </a:solidFill>
                <a:latin typeface="Malgun Gothic"/>
              </a:rPr>
              <a:t>2,291원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4360" y="5477255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E6B7B"/>
                </a:solidFill>
                <a:latin typeface="Malgun Gothic"/>
              </a:rPr>
              <a:t>합계금액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651760" y="5486399"/>
            <a:ext cx="3200400" cy="256032"/>
          </a:xfrm>
          <a:prstGeom prst="rect">
            <a:avLst/>
          </a:prstGeom>
          <a:solidFill>
            <a:srgbClr val="F8F7FA"/>
          </a:solidFill>
          <a:ln>
            <a:solidFill>
              <a:srgbClr val="E0D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697480" y="5504687"/>
            <a:ext cx="3017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F3349"/>
                </a:solidFill>
                <a:latin typeface="Malgun Gothic"/>
              </a:rPr>
              <a:t>25,200원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02920" y="5989320"/>
            <a:ext cx="2377440" cy="365760"/>
          </a:xfrm>
          <a:prstGeom prst="rect">
            <a:avLst/>
          </a:prstGeom>
          <a:solidFill>
            <a:srgbClr val="736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02920" y="6007608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algun Gothic"/>
              </a:rPr>
              <a:t>전자 발행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017520" y="5989320"/>
            <a:ext cx="2834640" cy="365760"/>
          </a:xfrm>
          <a:prstGeom prst="rect">
            <a:avLst/>
          </a:prstGeom>
          <a:solidFill>
            <a:srgbClr val="00C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017520" y="6007608"/>
            <a:ext cx="2834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algun Gothic"/>
              </a:rPr>
              <a:t>국세청 전송 확인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217920" y="1188720"/>
            <a:ext cx="5669280" cy="5303520"/>
          </a:xfrm>
          <a:prstGeom prst="rect">
            <a:avLst/>
          </a:prstGeom>
          <a:solidFill>
            <a:srgbClr val="FFFFFF"/>
          </a:solidFill>
          <a:ln>
            <a:solidFill>
              <a:srgbClr val="E0D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217920" y="1188720"/>
            <a:ext cx="5669280" cy="411480"/>
          </a:xfrm>
          <a:prstGeom prst="rect">
            <a:avLst/>
          </a:prstGeom>
          <a:solidFill>
            <a:srgbClr val="736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355080" y="12344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algun Gothic"/>
              </a:rPr>
              <a:t>발행 이력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217920" y="1691640"/>
            <a:ext cx="5669280" cy="320040"/>
          </a:xfrm>
          <a:prstGeom prst="rect">
            <a:avLst/>
          </a:prstGeom>
          <a:solidFill>
            <a:srgbClr val="2F33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217920" y="1719072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algun Gothic"/>
              </a:rPr>
              <a:t>발행일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269480" y="1719072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algun Gothic"/>
              </a:rPr>
              <a:t>공급받는자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778240" y="1719072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algun Gothic"/>
              </a:rPr>
              <a:t>합계(원)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875520" y="1719072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algun Gothic"/>
              </a:rPr>
              <a:t>상태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927080" y="1719072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algun Gothic"/>
              </a:rPr>
              <a:t>국세청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217920" y="2011680"/>
            <a:ext cx="5669280" cy="347472"/>
          </a:xfrm>
          <a:prstGeom prst="rect">
            <a:avLst/>
          </a:prstGeom>
          <a:solidFill>
            <a:srgbClr val="FFFFFF"/>
          </a:solidFill>
          <a:ln>
            <a:solidFill>
              <a:srgbClr val="E0D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217920" y="2066544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F3349"/>
                </a:solidFill>
                <a:latin typeface="Malgun Gothic"/>
              </a:rPr>
              <a:t>2026-05-08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269480" y="206654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F3349"/>
                </a:solidFill>
                <a:latin typeface="Malgun Gothic"/>
              </a:rPr>
              <a:t>강남내과의원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778240" y="2066544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F3349"/>
                </a:solidFill>
                <a:latin typeface="Malgun Gothic"/>
              </a:rPr>
              <a:t>25,200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875520" y="2066544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8C76F"/>
                </a:solidFill>
                <a:latin typeface="Malgun Gothic"/>
              </a:rPr>
              <a:t>발행완료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927080" y="2066544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CFE8"/>
                </a:solidFill>
                <a:latin typeface="Malgun Gothic"/>
              </a:rPr>
              <a:t>국세청승인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217920" y="2359152"/>
            <a:ext cx="5669280" cy="347472"/>
          </a:xfrm>
          <a:prstGeom prst="rect">
            <a:avLst/>
          </a:prstGeom>
          <a:solidFill>
            <a:srgbClr val="F8F7FA"/>
          </a:solidFill>
          <a:ln>
            <a:solidFill>
              <a:srgbClr val="E0D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217920" y="2414016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F3349"/>
                </a:solidFill>
                <a:latin typeface="Malgun Gothic"/>
              </a:rPr>
              <a:t>2026-05-06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269480" y="2414016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F3349"/>
                </a:solidFill>
                <a:latin typeface="Malgun Gothic"/>
              </a:rPr>
              <a:t>서초정형외과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778240" y="2414016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F3349"/>
                </a:solidFill>
                <a:latin typeface="Malgun Gothic"/>
              </a:rPr>
              <a:t>68,000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875520" y="2414016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8C76F"/>
                </a:solidFill>
                <a:latin typeface="Malgun Gothic"/>
              </a:rPr>
              <a:t>발행완료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927080" y="2414016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CFE8"/>
                </a:solidFill>
                <a:latin typeface="Malgun Gothic"/>
              </a:rPr>
              <a:t>국세청승인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217920" y="2706624"/>
            <a:ext cx="5669280" cy="347472"/>
          </a:xfrm>
          <a:prstGeom prst="rect">
            <a:avLst/>
          </a:prstGeom>
          <a:solidFill>
            <a:srgbClr val="FFFFFF"/>
          </a:solidFill>
          <a:ln>
            <a:solidFill>
              <a:srgbClr val="E0D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217920" y="276148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F3349"/>
                </a:solidFill>
                <a:latin typeface="Malgun Gothic"/>
              </a:rPr>
              <a:t>2026-05-04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269480" y="2761488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F3349"/>
                </a:solidFill>
                <a:latin typeface="Malgun Gothic"/>
              </a:rPr>
              <a:t>송파소아과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778240" y="2761488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F3349"/>
                </a:solidFill>
                <a:latin typeface="Malgun Gothic"/>
              </a:rPr>
              <a:t>34,500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875520" y="276148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8C76F"/>
                </a:solidFill>
                <a:latin typeface="Malgun Gothic"/>
              </a:rPr>
              <a:t>발행완료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927080" y="276148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CFE8"/>
                </a:solidFill>
                <a:latin typeface="Malgun Gothic"/>
              </a:rPr>
              <a:t>국세청승인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217920" y="3054096"/>
            <a:ext cx="5669280" cy="347472"/>
          </a:xfrm>
          <a:prstGeom prst="rect">
            <a:avLst/>
          </a:prstGeom>
          <a:solidFill>
            <a:srgbClr val="F8F7FA"/>
          </a:solidFill>
          <a:ln>
            <a:solidFill>
              <a:srgbClr val="E0D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217920" y="310896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F3349"/>
                </a:solidFill>
                <a:latin typeface="Malgun Gothic"/>
              </a:rPr>
              <a:t>2026-05-02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269480" y="3108960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F3349"/>
                </a:solidFill>
                <a:latin typeface="Malgun Gothic"/>
              </a:rPr>
              <a:t>강동안과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778240" y="3108960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F3349"/>
                </a:solidFill>
                <a:latin typeface="Malgun Gothic"/>
              </a:rPr>
              <a:t>52,800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875520" y="310896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EA5455"/>
                </a:solidFill>
                <a:latin typeface="Malgun Gothic"/>
              </a:rPr>
              <a:t>발행취소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927080" y="310896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EA5455"/>
                </a:solidFill>
                <a:latin typeface="Malgun Gothic"/>
              </a:rPr>
              <a:t>취소처리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217920" y="3401568"/>
            <a:ext cx="5669280" cy="347472"/>
          </a:xfrm>
          <a:prstGeom prst="rect">
            <a:avLst/>
          </a:prstGeom>
          <a:solidFill>
            <a:srgbClr val="FFFFFF"/>
          </a:solidFill>
          <a:ln>
            <a:solidFill>
              <a:srgbClr val="E0D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217920" y="3456432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F3349"/>
                </a:solidFill>
                <a:latin typeface="Malgun Gothic"/>
              </a:rPr>
              <a:t>2026-04-30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269480" y="3456432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F3349"/>
                </a:solidFill>
                <a:latin typeface="Malgun Gothic"/>
              </a:rPr>
              <a:t>마포이비인후과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778240" y="3456432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F3349"/>
                </a:solidFill>
                <a:latin typeface="Malgun Gothic"/>
              </a:rPr>
              <a:t>19,900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875520" y="3456432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8C76F"/>
                </a:solidFill>
                <a:latin typeface="Malgun Gothic"/>
              </a:rPr>
              <a:t>발행완료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0927080" y="3456432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CFE8"/>
                </a:solidFill>
                <a:latin typeface="Malgun Gothic"/>
              </a:rPr>
              <a:t>국세청승인</a:t>
            </a:r>
          </a:p>
        </p:txBody>
      </p:sp>
      <p:sp>
        <p:nvSpPr>
          <p:cNvPr id="91" name="Rectangle 90"/>
          <p:cNvSpPr/>
          <p:nvPr/>
        </p:nvSpPr>
        <p:spPr>
          <a:xfrm>
            <a:off x="6217920" y="3749039"/>
            <a:ext cx="5669280" cy="347472"/>
          </a:xfrm>
          <a:prstGeom prst="rect">
            <a:avLst/>
          </a:prstGeom>
          <a:solidFill>
            <a:srgbClr val="F8F7FA"/>
          </a:solidFill>
          <a:ln>
            <a:solidFill>
              <a:srgbClr val="E0D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6217920" y="3803903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F3349"/>
                </a:solidFill>
                <a:latin typeface="Malgun Gothic"/>
              </a:rPr>
              <a:t>2026-04-28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269480" y="3803903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F3349"/>
                </a:solidFill>
                <a:latin typeface="Malgun Gothic"/>
              </a:rPr>
              <a:t>용산내과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778240" y="3803903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F3349"/>
                </a:solidFill>
                <a:latin typeface="Malgun Gothic"/>
              </a:rPr>
              <a:t>41,200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875520" y="3803903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8C76F"/>
                </a:solidFill>
                <a:latin typeface="Malgun Gothic"/>
              </a:rPr>
              <a:t>발행완료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927080" y="3803903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CFE8"/>
                </a:solidFill>
                <a:latin typeface="Malgun Gothic"/>
              </a:rPr>
              <a:t>국세청승인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217920" y="4096511"/>
            <a:ext cx="5669280" cy="347472"/>
          </a:xfrm>
          <a:prstGeom prst="rect">
            <a:avLst/>
          </a:prstGeom>
          <a:solidFill>
            <a:srgbClr val="FFFFFF"/>
          </a:solidFill>
          <a:ln>
            <a:solidFill>
              <a:srgbClr val="E0D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217920" y="4151375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F3349"/>
                </a:solidFill>
                <a:latin typeface="Malgun Gothic"/>
              </a:rPr>
              <a:t>2026-04-25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69480" y="4151375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F3349"/>
                </a:solidFill>
                <a:latin typeface="Malgun Gothic"/>
              </a:rPr>
              <a:t>은평외과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778240" y="4151375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F3349"/>
                </a:solidFill>
                <a:latin typeface="Malgun Gothic"/>
              </a:rPr>
              <a:t>29,700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9875520" y="4151375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8C76F"/>
                </a:solidFill>
                <a:latin typeface="Malgun Gothic"/>
              </a:rPr>
              <a:t>발행완료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0927080" y="4151375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CFE8"/>
                </a:solidFill>
                <a:latin typeface="Malgun Gothic"/>
              </a:rPr>
              <a:t>국세청승인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6217920" y="4443983"/>
            <a:ext cx="5669280" cy="347472"/>
          </a:xfrm>
          <a:prstGeom prst="rect">
            <a:avLst/>
          </a:prstGeom>
          <a:solidFill>
            <a:srgbClr val="F8F7FA"/>
          </a:solidFill>
          <a:ln>
            <a:solidFill>
              <a:srgbClr val="E0D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6217920" y="4498847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F3349"/>
                </a:solidFill>
                <a:latin typeface="Malgun Gothic"/>
              </a:rPr>
              <a:t>2026-04-23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7269480" y="4498847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F3349"/>
                </a:solidFill>
                <a:latin typeface="Malgun Gothic"/>
              </a:rPr>
              <a:t>성북산부인과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778240" y="4498847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F3349"/>
                </a:solidFill>
                <a:latin typeface="Malgun Gothic"/>
              </a:rPr>
              <a:t>88,000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9875520" y="4498847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8C76F"/>
                </a:solidFill>
                <a:latin typeface="Malgun Gothic"/>
              </a:rPr>
              <a:t>발행완료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0927080" y="4498847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CFE8"/>
                </a:solidFill>
                <a:latin typeface="Malgun Gothic"/>
              </a:rPr>
              <a:t>국세청승인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6217920" y="4791455"/>
            <a:ext cx="5669280" cy="347472"/>
          </a:xfrm>
          <a:prstGeom prst="rect">
            <a:avLst/>
          </a:prstGeom>
          <a:solidFill>
            <a:srgbClr val="FFFFFF"/>
          </a:solidFill>
          <a:ln>
            <a:solidFill>
              <a:srgbClr val="E0D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6217920" y="4846319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F3349"/>
                </a:solidFill>
                <a:latin typeface="Malgun Gothic"/>
              </a:rPr>
              <a:t>2026-04-21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7269480" y="4846319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F3349"/>
                </a:solidFill>
                <a:latin typeface="Malgun Gothic"/>
              </a:rPr>
              <a:t>도봉내과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8778240" y="4846319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F3349"/>
                </a:solidFill>
                <a:latin typeface="Malgun Gothic"/>
              </a:rPr>
              <a:t>15,500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9875520" y="4846319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8C76F"/>
                </a:solidFill>
                <a:latin typeface="Malgun Gothic"/>
              </a:rPr>
              <a:t>발행완료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0927080" y="4846319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CFE8"/>
                </a:solidFill>
                <a:latin typeface="Malgun Gothic"/>
              </a:rPr>
              <a:t>국세청승인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736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82880"/>
            <a:ext cx="59436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64592"/>
            <a:ext cx="594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7367F0"/>
                </a:solidFill>
                <a:latin typeface="Malgun Gothic"/>
              </a:rPr>
              <a:t>STEP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3716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algun Gothic"/>
              </a:rPr>
              <a:t>보험공단 전자팩스 전송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CCFF"/>
                </a:solidFill>
                <a:latin typeface="Malgun Gothic"/>
              </a:rPr>
              <a:t>팝빌 팩스 API 연계 — 건강보험심사평가원 전자팩스 발송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5E5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188720"/>
            <a:ext cx="5486400" cy="5303520"/>
          </a:xfrm>
          <a:prstGeom prst="rect">
            <a:avLst/>
          </a:prstGeom>
          <a:solidFill>
            <a:srgbClr val="FFFFFF"/>
          </a:solidFill>
          <a:ln>
            <a:solidFill>
              <a:srgbClr val="E0D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188720"/>
            <a:ext cx="5486400" cy="411480"/>
          </a:xfrm>
          <a:prstGeom prst="rect">
            <a:avLst/>
          </a:prstGeom>
          <a:solidFill>
            <a:srgbClr val="EA5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23444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algun Gothic"/>
              </a:rPr>
              <a:t>전자팩스 발송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78308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E6B7B"/>
                </a:solidFill>
                <a:latin typeface="Malgun Gothic"/>
              </a:rPr>
              <a:t>발신번호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06040" y="1801368"/>
            <a:ext cx="3063240" cy="274320"/>
          </a:xfrm>
          <a:prstGeom prst="rect">
            <a:avLst/>
          </a:prstGeom>
          <a:solidFill>
            <a:srgbClr val="F8F7FA"/>
          </a:solidFill>
          <a:ln>
            <a:solidFill>
              <a:srgbClr val="E0D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51760" y="1819656"/>
            <a:ext cx="2971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F3349"/>
                </a:solidFill>
                <a:latin typeface="Malgun Gothic"/>
              </a:rPr>
              <a:t>02-1234-5678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167128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E6B7B"/>
                </a:solidFill>
                <a:latin typeface="Malgun Gothic"/>
              </a:rPr>
              <a:t>수신번호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06040" y="2185416"/>
            <a:ext cx="3063240" cy="274320"/>
          </a:xfrm>
          <a:prstGeom prst="rect">
            <a:avLst/>
          </a:prstGeom>
          <a:solidFill>
            <a:srgbClr val="F8F7FA"/>
          </a:solidFill>
          <a:ln>
            <a:solidFill>
              <a:srgbClr val="EA5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51760" y="2203704"/>
            <a:ext cx="2971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F3349"/>
                </a:solidFill>
                <a:latin typeface="Malgun Gothic"/>
              </a:rPr>
              <a:t>1644-0014 (보험공단)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2551176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E6B7B"/>
                </a:solidFill>
                <a:latin typeface="Malgun Gothic"/>
              </a:rPr>
              <a:t>수신자명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606040" y="2569464"/>
            <a:ext cx="3063240" cy="274320"/>
          </a:xfrm>
          <a:prstGeom prst="rect">
            <a:avLst/>
          </a:prstGeom>
          <a:solidFill>
            <a:srgbClr val="F8F7FA"/>
          </a:solidFill>
          <a:ln>
            <a:solidFill>
              <a:srgbClr val="E0D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651760" y="2587752"/>
            <a:ext cx="2971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F3349"/>
                </a:solidFill>
                <a:latin typeface="Malgun Gothic"/>
              </a:rPr>
              <a:t>건강보험심사평가원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2935224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E6B7B"/>
                </a:solidFill>
                <a:latin typeface="Malgun Gothic"/>
              </a:rPr>
              <a:t>제목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606040" y="2953512"/>
            <a:ext cx="3063240" cy="274320"/>
          </a:xfrm>
          <a:prstGeom prst="rect">
            <a:avLst/>
          </a:prstGeom>
          <a:solidFill>
            <a:srgbClr val="F8F7FA"/>
          </a:solidFill>
          <a:ln>
            <a:solidFill>
              <a:srgbClr val="E0D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651760" y="2971800"/>
            <a:ext cx="2971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F3349"/>
                </a:solidFill>
                <a:latin typeface="Malgun Gothic"/>
              </a:rPr>
              <a:t>처방전 청구서 ORD-2458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3319272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E6B7B"/>
                </a:solidFill>
                <a:latin typeface="Malgun Gothic"/>
              </a:rPr>
              <a:t>전송문서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606040" y="3337560"/>
            <a:ext cx="3063240" cy="274320"/>
          </a:xfrm>
          <a:prstGeom prst="rect">
            <a:avLst/>
          </a:prstGeom>
          <a:solidFill>
            <a:srgbClr val="F8F7FA"/>
          </a:solidFill>
          <a:ln>
            <a:solidFill>
              <a:srgbClr val="E0D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51760" y="3355848"/>
            <a:ext cx="2971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F3349"/>
                </a:solidFill>
                <a:latin typeface="Malgun Gothic"/>
              </a:rPr>
              <a:t>처방전.pdf (2.1MB)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370332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E6B7B"/>
                </a:solidFill>
                <a:latin typeface="Malgun Gothic"/>
              </a:rPr>
              <a:t>예약발송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606040" y="3721607"/>
            <a:ext cx="3063240" cy="274320"/>
          </a:xfrm>
          <a:prstGeom prst="rect">
            <a:avLst/>
          </a:prstGeom>
          <a:solidFill>
            <a:srgbClr val="F8F7FA"/>
          </a:solidFill>
          <a:ln>
            <a:solidFill>
              <a:srgbClr val="E0D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651760" y="3739896"/>
            <a:ext cx="2971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F3349"/>
                </a:solidFill>
                <a:latin typeface="Malgun Gothic"/>
              </a:rPr>
              <a:t>즉시 발송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160520"/>
            <a:ext cx="5212080" cy="1828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42519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E6B7B"/>
                </a:solidFill>
                <a:latin typeface="Malgun Gothic"/>
              </a:rPr>
              <a:t>📄 처방전.pdf 미리보기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4663440"/>
            <a:ext cx="502920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828800" y="50292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E6B7B"/>
                </a:solidFill>
                <a:latin typeface="Malgun Gothic"/>
              </a:rPr>
              <a:t>[처방전 이미지]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6035040"/>
            <a:ext cx="2194560" cy="365760"/>
          </a:xfrm>
          <a:prstGeom prst="rect">
            <a:avLst/>
          </a:prstGeom>
          <a:solidFill>
            <a:srgbClr val="EA5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6053328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algun Gothic"/>
              </a:rPr>
              <a:t>📠  팩스 전송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834640" y="6035040"/>
            <a:ext cx="2834640" cy="365760"/>
          </a:xfrm>
          <a:prstGeom prst="rect">
            <a:avLst/>
          </a:prstGeom>
          <a:solidFill>
            <a:srgbClr val="6E6B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834640" y="6053328"/>
            <a:ext cx="2834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algun Gothic"/>
              </a:rPr>
              <a:t>전송 이력 조회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80760" y="1188720"/>
            <a:ext cx="5806440" cy="5303520"/>
          </a:xfrm>
          <a:prstGeom prst="rect">
            <a:avLst/>
          </a:prstGeom>
          <a:solidFill>
            <a:srgbClr val="FFFFFF"/>
          </a:solidFill>
          <a:ln>
            <a:solidFill>
              <a:srgbClr val="E0D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080760" y="1188720"/>
            <a:ext cx="5806440" cy="411480"/>
          </a:xfrm>
          <a:prstGeom prst="rect">
            <a:avLst/>
          </a:prstGeom>
          <a:solidFill>
            <a:srgbClr val="EA5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17920" y="1234440"/>
            <a:ext cx="5623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algun Gothic"/>
              </a:rPr>
              <a:t>전송 이력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080760" y="1691640"/>
            <a:ext cx="5806440" cy="320040"/>
          </a:xfrm>
          <a:prstGeom prst="rect">
            <a:avLst/>
          </a:prstGeom>
          <a:solidFill>
            <a:srgbClr val="2F33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80760" y="1719072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algun Gothic"/>
              </a:rPr>
              <a:t>전송일시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15200" y="1719072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algun Gothic"/>
              </a:rPr>
              <a:t>주문번호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95360" y="1719072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algun Gothic"/>
              </a:rPr>
              <a:t>수신번호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829800" y="1719072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algun Gothic"/>
              </a:rPr>
              <a:t>상태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927080" y="1719072"/>
            <a:ext cx="960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algun Gothic"/>
              </a:rPr>
              <a:t>확인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080760" y="2011680"/>
            <a:ext cx="5806440" cy="347472"/>
          </a:xfrm>
          <a:prstGeom prst="rect">
            <a:avLst/>
          </a:prstGeom>
          <a:solidFill>
            <a:srgbClr val="FFFFFF"/>
          </a:solidFill>
          <a:ln>
            <a:solidFill>
              <a:srgbClr val="E0D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080760" y="2066544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F3349"/>
                </a:solidFill>
                <a:latin typeface="Malgun Gothic"/>
              </a:rPr>
              <a:t>05-08 14:35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15200" y="2066544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F3349"/>
                </a:solidFill>
                <a:latin typeface="Malgun Gothic"/>
              </a:rPr>
              <a:t>ORD-2458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595360" y="2066544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F3349"/>
                </a:solidFill>
                <a:latin typeface="Malgun Gothic"/>
              </a:rPr>
              <a:t>1644-0014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829800" y="2066544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8C76F"/>
                </a:solidFill>
                <a:latin typeface="Malgun Gothic"/>
              </a:rPr>
              <a:t>전송완료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927080" y="2066544"/>
            <a:ext cx="960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CFE8"/>
                </a:solidFill>
                <a:latin typeface="Malgun Gothic"/>
              </a:rPr>
              <a:t>수신확인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080760" y="2359152"/>
            <a:ext cx="5806440" cy="347472"/>
          </a:xfrm>
          <a:prstGeom prst="rect">
            <a:avLst/>
          </a:prstGeom>
          <a:solidFill>
            <a:srgbClr val="F8F7FA"/>
          </a:solidFill>
          <a:ln>
            <a:solidFill>
              <a:srgbClr val="E0D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080760" y="2414016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F3349"/>
                </a:solidFill>
                <a:latin typeface="Malgun Gothic"/>
              </a:rPr>
              <a:t>05-08 11:20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315200" y="2414016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F3349"/>
                </a:solidFill>
                <a:latin typeface="Malgun Gothic"/>
              </a:rPr>
              <a:t>ORD-2451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595360" y="2414016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F3349"/>
                </a:solidFill>
                <a:latin typeface="Malgun Gothic"/>
              </a:rPr>
              <a:t>1644-0014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829800" y="2414016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8C76F"/>
                </a:solidFill>
                <a:latin typeface="Malgun Gothic"/>
              </a:rPr>
              <a:t>전송완료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927080" y="2414016"/>
            <a:ext cx="960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CFE8"/>
                </a:solidFill>
                <a:latin typeface="Malgun Gothic"/>
              </a:rPr>
              <a:t>수신확인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080760" y="2706624"/>
            <a:ext cx="5806440" cy="347472"/>
          </a:xfrm>
          <a:prstGeom prst="rect">
            <a:avLst/>
          </a:prstGeom>
          <a:solidFill>
            <a:srgbClr val="FFFFFF"/>
          </a:solidFill>
          <a:ln>
            <a:solidFill>
              <a:srgbClr val="E0D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080760" y="2761488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F3349"/>
                </a:solidFill>
                <a:latin typeface="Malgun Gothic"/>
              </a:rPr>
              <a:t>05-07 16:55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315200" y="2761488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F3349"/>
                </a:solidFill>
                <a:latin typeface="Malgun Gothic"/>
              </a:rPr>
              <a:t>ORD-2445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595360" y="2761488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F3349"/>
                </a:solidFill>
                <a:latin typeface="Malgun Gothic"/>
              </a:rPr>
              <a:t>1644-0014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829800" y="2761488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8C76F"/>
                </a:solidFill>
                <a:latin typeface="Malgun Gothic"/>
              </a:rPr>
              <a:t>전송완료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927080" y="2761488"/>
            <a:ext cx="960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CFE8"/>
                </a:solidFill>
                <a:latin typeface="Malgun Gothic"/>
              </a:rPr>
              <a:t>수신확인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080760" y="3054096"/>
            <a:ext cx="5806440" cy="347472"/>
          </a:xfrm>
          <a:prstGeom prst="rect">
            <a:avLst/>
          </a:prstGeom>
          <a:solidFill>
            <a:srgbClr val="F8F7FA"/>
          </a:solidFill>
          <a:ln>
            <a:solidFill>
              <a:srgbClr val="E0D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080760" y="310896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F3349"/>
                </a:solidFill>
                <a:latin typeface="Malgun Gothic"/>
              </a:rPr>
              <a:t>05-07 10:30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315200" y="3108960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F3349"/>
                </a:solidFill>
                <a:latin typeface="Malgun Gothic"/>
              </a:rPr>
              <a:t>ORD-2440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595360" y="310896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F3349"/>
                </a:solidFill>
                <a:latin typeface="Malgun Gothic"/>
              </a:rPr>
              <a:t>1644-0014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829800" y="3108960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EA5455"/>
                </a:solidFill>
                <a:latin typeface="Malgun Gothic"/>
              </a:rPr>
              <a:t>전송실패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927080" y="3108960"/>
            <a:ext cx="960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9F43"/>
                </a:solidFill>
                <a:latin typeface="Malgun Gothic"/>
              </a:rPr>
              <a:t>재전송필요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080760" y="3401568"/>
            <a:ext cx="5806440" cy="347472"/>
          </a:xfrm>
          <a:prstGeom prst="rect">
            <a:avLst/>
          </a:prstGeom>
          <a:solidFill>
            <a:srgbClr val="FFFFFF"/>
          </a:solidFill>
          <a:ln>
            <a:solidFill>
              <a:srgbClr val="E0D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080760" y="3456432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F3349"/>
                </a:solidFill>
                <a:latin typeface="Malgun Gothic"/>
              </a:rPr>
              <a:t>05-06 14:10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315200" y="3456432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F3349"/>
                </a:solidFill>
                <a:latin typeface="Malgun Gothic"/>
              </a:rPr>
              <a:t>ORD-2435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595360" y="3456432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F3349"/>
                </a:solidFill>
                <a:latin typeface="Malgun Gothic"/>
              </a:rPr>
              <a:t>1644-0014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829800" y="3456432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8C76F"/>
                </a:solidFill>
                <a:latin typeface="Malgun Gothic"/>
              </a:rPr>
              <a:t>전송완료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927080" y="3456432"/>
            <a:ext cx="960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CFE8"/>
                </a:solidFill>
                <a:latin typeface="Malgun Gothic"/>
              </a:rPr>
              <a:t>수신확인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080760" y="3749039"/>
            <a:ext cx="5806440" cy="347472"/>
          </a:xfrm>
          <a:prstGeom prst="rect">
            <a:avLst/>
          </a:prstGeom>
          <a:solidFill>
            <a:srgbClr val="F8F7FA"/>
          </a:solidFill>
          <a:ln>
            <a:solidFill>
              <a:srgbClr val="E0D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080760" y="3803903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F3349"/>
                </a:solidFill>
                <a:latin typeface="Malgun Gothic"/>
              </a:rPr>
              <a:t>05-06 09:45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315200" y="3803903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F3349"/>
                </a:solidFill>
                <a:latin typeface="Malgun Gothic"/>
              </a:rPr>
              <a:t>ORD-2430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595360" y="3803903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F3349"/>
                </a:solidFill>
                <a:latin typeface="Malgun Gothic"/>
              </a:rPr>
              <a:t>1644-0014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829800" y="3803903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8C76F"/>
                </a:solidFill>
                <a:latin typeface="Malgun Gothic"/>
              </a:rPr>
              <a:t>전송완료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927080" y="3803903"/>
            <a:ext cx="960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CFE8"/>
                </a:solidFill>
                <a:latin typeface="Malgun Gothic"/>
              </a:rPr>
              <a:t>수신확인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080760" y="4096511"/>
            <a:ext cx="5806440" cy="347472"/>
          </a:xfrm>
          <a:prstGeom prst="rect">
            <a:avLst/>
          </a:prstGeom>
          <a:solidFill>
            <a:srgbClr val="FFFFFF"/>
          </a:solidFill>
          <a:ln>
            <a:solidFill>
              <a:srgbClr val="E0D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080760" y="4151375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F3349"/>
                </a:solidFill>
                <a:latin typeface="Malgun Gothic"/>
              </a:rPr>
              <a:t>05-05 16:20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315200" y="4151375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F3349"/>
                </a:solidFill>
                <a:latin typeface="Malgun Gothic"/>
              </a:rPr>
              <a:t>ORD-2425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595360" y="4151375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F3349"/>
                </a:solidFill>
                <a:latin typeface="Malgun Gothic"/>
              </a:rPr>
              <a:t>1644-0014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829800" y="4151375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8C76F"/>
                </a:solidFill>
                <a:latin typeface="Malgun Gothic"/>
              </a:rPr>
              <a:t>전송완료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927080" y="4151375"/>
            <a:ext cx="960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CFE8"/>
                </a:solidFill>
                <a:latin typeface="Malgun Gothic"/>
              </a:rPr>
              <a:t>수신확인</a:t>
            </a:r>
          </a:p>
        </p:txBody>
      </p:sp>
      <p:sp>
        <p:nvSpPr>
          <p:cNvPr id="89" name="Rectangle 88"/>
          <p:cNvSpPr/>
          <p:nvPr/>
        </p:nvSpPr>
        <p:spPr>
          <a:xfrm>
            <a:off x="6080760" y="4443983"/>
            <a:ext cx="5806440" cy="347472"/>
          </a:xfrm>
          <a:prstGeom prst="rect">
            <a:avLst/>
          </a:prstGeom>
          <a:solidFill>
            <a:srgbClr val="F8F7FA"/>
          </a:solidFill>
          <a:ln>
            <a:solidFill>
              <a:srgbClr val="E0D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080760" y="4498847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F3349"/>
                </a:solidFill>
                <a:latin typeface="Malgun Gothic"/>
              </a:rPr>
              <a:t>05-05 13:05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315200" y="4498847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F3349"/>
                </a:solidFill>
                <a:latin typeface="Malgun Gothic"/>
              </a:rPr>
              <a:t>ORD-2420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595360" y="4498847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F3349"/>
                </a:solidFill>
                <a:latin typeface="Malgun Gothic"/>
              </a:rPr>
              <a:t>1644-0014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9829800" y="4498847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8C76F"/>
                </a:solidFill>
                <a:latin typeface="Malgun Gothic"/>
              </a:rPr>
              <a:t>전송완료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0927080" y="4498847"/>
            <a:ext cx="960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CFE8"/>
                </a:solidFill>
                <a:latin typeface="Malgun Gothic"/>
              </a:rPr>
              <a:t>수신확인</a:t>
            </a:r>
          </a:p>
        </p:txBody>
      </p:sp>
      <p:sp>
        <p:nvSpPr>
          <p:cNvPr id="95" name="Rectangle 94"/>
          <p:cNvSpPr/>
          <p:nvPr/>
        </p:nvSpPr>
        <p:spPr>
          <a:xfrm>
            <a:off x="6080760" y="4791455"/>
            <a:ext cx="5806440" cy="347472"/>
          </a:xfrm>
          <a:prstGeom prst="rect">
            <a:avLst/>
          </a:prstGeom>
          <a:solidFill>
            <a:srgbClr val="FFFFFF"/>
          </a:solidFill>
          <a:ln>
            <a:solidFill>
              <a:srgbClr val="E0D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080760" y="4846319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F3349"/>
                </a:solidFill>
                <a:latin typeface="Malgun Gothic"/>
              </a:rPr>
              <a:t>05-04 15:40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7315200" y="4846319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F3349"/>
                </a:solidFill>
                <a:latin typeface="Malgun Gothic"/>
              </a:rPr>
              <a:t>ORD-2415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595360" y="4846319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F3349"/>
                </a:solidFill>
                <a:latin typeface="Malgun Gothic"/>
              </a:rPr>
              <a:t>1644-0014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9829800" y="4846319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8C76F"/>
                </a:solidFill>
                <a:latin typeface="Malgun Gothic"/>
              </a:rPr>
              <a:t>전송완료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0927080" y="4846319"/>
            <a:ext cx="960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CFE8"/>
                </a:solidFill>
                <a:latin typeface="Malgun Gothic"/>
              </a:rPr>
              <a:t>수신확인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736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algun Gothic"/>
              </a:rPr>
              <a:t>환자 주문 → 배송완료 전체 흐름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CCFF"/>
                </a:solidFill>
                <a:latin typeface="Malgun Gothic"/>
              </a:rPr>
              <a:t>처방전 접수부터 배송 완료까지 통합 현황 추적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5E5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371600"/>
            <a:ext cx="914400" cy="914400"/>
          </a:xfrm>
          <a:prstGeom prst="rect">
            <a:avLst/>
          </a:prstGeom>
          <a:solidFill>
            <a:srgbClr val="736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3716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Malgun Gothic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783080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algun Gothic"/>
              </a:rPr>
              <a:t>처방전
접수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359152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E6B7B"/>
                </a:solidFill>
                <a:latin typeface="Malgun Gothic"/>
              </a:rPr>
              <a:t>2026-05-08
14:10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34440" y="1801368"/>
            <a:ext cx="137160" cy="54864"/>
          </a:xfrm>
          <a:prstGeom prst="rect">
            <a:avLst/>
          </a:prstGeom>
          <a:solidFill>
            <a:srgbClr val="736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371600" y="1371600"/>
            <a:ext cx="914400" cy="914400"/>
          </a:xfrm>
          <a:prstGeom prst="rect">
            <a:avLst/>
          </a:prstGeom>
          <a:solidFill>
            <a:srgbClr val="00C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13716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Malgun Gothic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1783080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algun Gothic"/>
              </a:rPr>
              <a:t>OCR
판독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359152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E6B7B"/>
                </a:solidFill>
                <a:latin typeface="Malgun Gothic"/>
              </a:rPr>
              <a:t>14:11
자동처리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0" y="1801368"/>
            <a:ext cx="137160" cy="54864"/>
          </a:xfrm>
          <a:prstGeom prst="rect">
            <a:avLst/>
          </a:prstGeom>
          <a:solidFill>
            <a:srgbClr val="00C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423160" y="1371600"/>
            <a:ext cx="914400" cy="914400"/>
          </a:xfrm>
          <a:prstGeom prst="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423160" y="13716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Malgun Gothic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23160" y="1783080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algun Gothic"/>
              </a:rPr>
              <a:t>수기
검증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23160" y="2359152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E6B7B"/>
                </a:solidFill>
                <a:latin typeface="Malgun Gothic"/>
              </a:rPr>
              <a:t>14:15
관리자 확인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37560" y="1801368"/>
            <a:ext cx="137160" cy="54864"/>
          </a:xfrm>
          <a:prstGeom prst="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474720" y="1371600"/>
            <a:ext cx="914400" cy="914400"/>
          </a:xfrm>
          <a:prstGeom prst="rect">
            <a:avLst/>
          </a:prstGeom>
          <a:solidFill>
            <a:srgbClr val="28C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74720" y="13716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Malgun Gothic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4720" y="1783080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algun Gothic"/>
              </a:rPr>
              <a:t>주소
확인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74720" y="2359152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E6B7B"/>
                </a:solidFill>
                <a:latin typeface="Malgun Gothic"/>
              </a:rPr>
              <a:t>14:16
자동매핑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89120" y="1801368"/>
            <a:ext cx="137160" cy="54864"/>
          </a:xfrm>
          <a:prstGeom prst="rect">
            <a:avLst/>
          </a:prstGeom>
          <a:solidFill>
            <a:srgbClr val="28C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26279" y="1371600"/>
            <a:ext cx="914400" cy="914400"/>
          </a:xfrm>
          <a:prstGeom prst="rect">
            <a:avLst/>
          </a:prstGeom>
          <a:solidFill>
            <a:srgbClr val="736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26279" y="13716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Malgun Gothic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26279" y="1783080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algun Gothic"/>
              </a:rPr>
              <a:t>주문
생성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26279" y="2359152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E6B7B"/>
                </a:solidFill>
                <a:latin typeface="Malgun Gothic"/>
              </a:rPr>
              <a:t>14:23
ORD-2458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40679" y="1801368"/>
            <a:ext cx="137160" cy="54864"/>
          </a:xfrm>
          <a:prstGeom prst="rect">
            <a:avLst/>
          </a:prstGeom>
          <a:solidFill>
            <a:srgbClr val="736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577840" y="1371600"/>
            <a:ext cx="914400" cy="914400"/>
          </a:xfrm>
          <a:prstGeom prst="rect">
            <a:avLst/>
          </a:prstGeom>
          <a:solidFill>
            <a:srgbClr val="6E6B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577840" y="13716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Malgun Gothic"/>
              </a:rPr>
              <a:t>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577840" y="1783080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algun Gothic"/>
              </a:rPr>
              <a:t>입금
확인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77840" y="2359152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E6B7B"/>
                </a:solidFill>
                <a:latin typeface="Malgun Gothic"/>
              </a:rPr>
              <a:t>미연계
(준비중)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92240" y="1801368"/>
            <a:ext cx="137160" cy="54864"/>
          </a:xfrm>
          <a:prstGeom prst="rect">
            <a:avLst/>
          </a:prstGeom>
          <a:solidFill>
            <a:srgbClr val="6E6B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629400" y="1371600"/>
            <a:ext cx="914400" cy="914400"/>
          </a:xfrm>
          <a:prstGeom prst="rect">
            <a:avLst/>
          </a:prstGeom>
          <a:solidFill>
            <a:srgbClr val="28C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29400" y="13716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Malgun Gothic"/>
              </a:rPr>
              <a:t>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29400" y="1783080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algun Gothic"/>
              </a:rPr>
              <a:t>영수증
발행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29400" y="2359152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E6B7B"/>
                </a:solidFill>
                <a:latin typeface="Malgun Gothic"/>
              </a:rPr>
              <a:t>14:30
현금영수증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543800" y="1801368"/>
            <a:ext cx="137160" cy="54864"/>
          </a:xfrm>
          <a:prstGeom prst="rect">
            <a:avLst/>
          </a:prstGeom>
          <a:solidFill>
            <a:srgbClr val="28C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680960" y="1371600"/>
            <a:ext cx="914400" cy="914400"/>
          </a:xfrm>
          <a:prstGeom prst="rect">
            <a:avLst/>
          </a:prstGeom>
          <a:solidFill>
            <a:srgbClr val="EA5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680960" y="13716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Malgun Gothic"/>
              </a:rPr>
              <a:t>✓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80960" y="1783080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algun Gothic"/>
              </a:rPr>
              <a:t>팩스
전송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80960" y="2359152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E6B7B"/>
                </a:solidFill>
                <a:latin typeface="Malgun Gothic"/>
              </a:rPr>
              <a:t>14:35
수신확인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595360" y="1801368"/>
            <a:ext cx="137160" cy="54864"/>
          </a:xfrm>
          <a:prstGeom prst="rect">
            <a:avLst/>
          </a:prstGeom>
          <a:solidFill>
            <a:srgbClr val="EA5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732520" y="1371600"/>
            <a:ext cx="914400" cy="914400"/>
          </a:xfrm>
          <a:prstGeom prst="rect">
            <a:avLst/>
          </a:prstGeom>
          <a:solidFill>
            <a:srgbClr val="00C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732520" y="13716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Malgun Gothic"/>
              </a:rPr>
              <a:t>✓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732520" y="1783080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algun Gothic"/>
              </a:rPr>
              <a:t>출고
처리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732520" y="2359152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E6B7B"/>
                </a:solidFill>
                <a:latin typeface="Malgun Gothic"/>
              </a:rPr>
              <a:t>15:00
TodoWorks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646920" y="1801368"/>
            <a:ext cx="137160" cy="54864"/>
          </a:xfrm>
          <a:prstGeom prst="rect">
            <a:avLst/>
          </a:prstGeom>
          <a:solidFill>
            <a:srgbClr val="00C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784080" y="1371600"/>
            <a:ext cx="914400" cy="914400"/>
          </a:xfrm>
          <a:prstGeom prst="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784080" y="13716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Malgun Gothic"/>
              </a:rPr>
              <a:t>✓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784080" y="1783080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algun Gothic"/>
              </a:rPr>
              <a:t>배송중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784080" y="2359152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E6B7B"/>
                </a:solidFill>
                <a:latin typeface="Malgun Gothic"/>
              </a:rPr>
              <a:t>05-09
14:22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0698480" y="1801368"/>
            <a:ext cx="137160" cy="54864"/>
          </a:xfrm>
          <a:prstGeom prst="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0835640" y="1371600"/>
            <a:ext cx="914400" cy="914400"/>
          </a:xfrm>
          <a:prstGeom prst="rect">
            <a:avLst/>
          </a:prstGeom>
          <a:solidFill>
            <a:srgbClr val="28C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835640" y="13716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Malgun Gothic"/>
              </a:rPr>
              <a:t>⭐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835640" y="1783080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algun Gothic"/>
              </a:rPr>
              <a:t>배송
완료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835640" y="2359152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E6B7B"/>
                </a:solidFill>
                <a:latin typeface="Malgun Gothic"/>
              </a:rPr>
              <a:t>05-10
11:30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3017520"/>
            <a:ext cx="11521440" cy="3566160"/>
          </a:xfrm>
          <a:prstGeom prst="rect">
            <a:avLst/>
          </a:prstGeom>
          <a:solidFill>
            <a:srgbClr val="FFFFFF"/>
          </a:solidFill>
          <a:ln>
            <a:solidFill>
              <a:srgbClr val="E0D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365760" y="3017520"/>
            <a:ext cx="11521440" cy="411480"/>
          </a:xfrm>
          <a:prstGeom prst="rect">
            <a:avLst/>
          </a:prstGeom>
          <a:solidFill>
            <a:srgbClr val="2F33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02920" y="30632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algun Gothic"/>
              </a:rPr>
              <a:t>주문 상세  [ORD-2458]  홍길동 환자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02920" y="3520440"/>
            <a:ext cx="2148840" cy="274320"/>
          </a:xfrm>
          <a:prstGeom prst="rect">
            <a:avLst/>
          </a:prstGeom>
          <a:solidFill>
            <a:srgbClr val="EDE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48640" y="3547872"/>
            <a:ext cx="2057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367F0"/>
                </a:solidFill>
                <a:latin typeface="Malgun Gothic"/>
              </a:rPr>
              <a:t>환자 정보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48640" y="3840480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F3349"/>
                </a:solidFill>
                <a:latin typeface="Malgun Gothic"/>
              </a:rPr>
              <a:t>성명: 홍길동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48640" y="4133088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F3349"/>
                </a:solidFill>
                <a:latin typeface="Malgun Gothic"/>
              </a:rPr>
              <a:t>생년: 1985-03-15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48640" y="4425696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F3349"/>
                </a:solidFill>
                <a:latin typeface="Malgun Gothic"/>
              </a:rPr>
              <a:t>연락처: 010-1234-5678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788920" y="3520440"/>
            <a:ext cx="2148840" cy="274320"/>
          </a:xfrm>
          <a:prstGeom prst="rect">
            <a:avLst/>
          </a:prstGeom>
          <a:solidFill>
            <a:srgbClr val="EDE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834639" y="3547872"/>
            <a:ext cx="2057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367F0"/>
                </a:solidFill>
                <a:latin typeface="Malgun Gothic"/>
              </a:rPr>
              <a:t>처방 정보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834639" y="3840480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F3349"/>
                </a:solidFill>
                <a:latin typeface="Malgun Gothic"/>
              </a:rPr>
              <a:t>병원: 서울내과의원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834639" y="4133088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F3349"/>
                </a:solidFill>
                <a:latin typeface="Malgun Gothic"/>
              </a:rPr>
              <a:t>약품: 아목시실린 500mg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834639" y="4425696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F3349"/>
                </a:solidFill>
                <a:latin typeface="Malgun Gothic"/>
              </a:rPr>
              <a:t>처방일: 2026-05-08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074920" y="3520440"/>
            <a:ext cx="2148840" cy="274320"/>
          </a:xfrm>
          <a:prstGeom prst="rect">
            <a:avLst/>
          </a:prstGeom>
          <a:solidFill>
            <a:srgbClr val="EDE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120640" y="3547872"/>
            <a:ext cx="2057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367F0"/>
                </a:solidFill>
                <a:latin typeface="Malgun Gothic"/>
              </a:rPr>
              <a:t>주문 정보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120640" y="3840480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F3349"/>
                </a:solidFill>
                <a:latin typeface="Malgun Gothic"/>
              </a:rPr>
              <a:t>주문번호: ORD-2458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120640" y="4133088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F3349"/>
                </a:solidFill>
                <a:latin typeface="Malgun Gothic"/>
              </a:rPr>
              <a:t>수량: 21정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120640" y="4425696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F3349"/>
                </a:solidFill>
                <a:latin typeface="Malgun Gothic"/>
              </a:rPr>
              <a:t>금액: 25,200원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360920" y="3520440"/>
            <a:ext cx="2148840" cy="274320"/>
          </a:xfrm>
          <a:prstGeom prst="rect">
            <a:avLst/>
          </a:prstGeom>
          <a:solidFill>
            <a:srgbClr val="EDE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7406640" y="3547872"/>
            <a:ext cx="2057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367F0"/>
                </a:solidFill>
                <a:latin typeface="Malgun Gothic"/>
              </a:rPr>
              <a:t>배송 정보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406640" y="3840480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F3349"/>
                </a:solidFill>
                <a:latin typeface="Malgun Gothic"/>
              </a:rPr>
              <a:t>수령인: 홍길동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406640" y="4133088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F3349"/>
                </a:solidFill>
                <a:latin typeface="Malgun Gothic"/>
              </a:rPr>
              <a:t>주소: 강남구 테헤란로 123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406640" y="4425696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F3349"/>
                </a:solidFill>
                <a:latin typeface="Malgun Gothic"/>
              </a:rPr>
              <a:t>송장: CJ123456789</a:t>
            </a:r>
          </a:p>
        </p:txBody>
      </p:sp>
      <p:sp>
        <p:nvSpPr>
          <p:cNvPr id="84" name="Rectangle 83"/>
          <p:cNvSpPr/>
          <p:nvPr/>
        </p:nvSpPr>
        <p:spPr>
          <a:xfrm>
            <a:off x="9646920" y="3520440"/>
            <a:ext cx="2148840" cy="274320"/>
          </a:xfrm>
          <a:prstGeom prst="rect">
            <a:avLst/>
          </a:prstGeom>
          <a:solidFill>
            <a:srgbClr val="EDE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692640" y="3547872"/>
            <a:ext cx="2057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367F0"/>
                </a:solidFill>
                <a:latin typeface="Malgun Gothic"/>
              </a:rPr>
              <a:t>처리 이력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692640" y="3840480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F3349"/>
                </a:solidFill>
                <a:latin typeface="Malgun Gothic"/>
              </a:rPr>
              <a:t>현금영수증: 발행완료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692640" y="4133088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F3349"/>
                </a:solidFill>
                <a:latin typeface="Malgun Gothic"/>
              </a:rPr>
              <a:t>세금계산서: 발행완료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692640" y="4425696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F3349"/>
                </a:solidFill>
                <a:latin typeface="Malgun Gothic"/>
              </a:rPr>
              <a:t>팩스전송: 수신확인</a:t>
            </a:r>
          </a:p>
        </p:txBody>
      </p:sp>
      <p:sp>
        <p:nvSpPr>
          <p:cNvPr id="89" name="Rectangle 88"/>
          <p:cNvSpPr/>
          <p:nvPr/>
        </p:nvSpPr>
        <p:spPr>
          <a:xfrm>
            <a:off x="502920" y="6126480"/>
            <a:ext cx="2743200" cy="365760"/>
          </a:xfrm>
          <a:prstGeom prst="rect">
            <a:avLst/>
          </a:prstGeom>
          <a:solidFill>
            <a:srgbClr val="28C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502920" y="6144768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algun Gothic"/>
              </a:rPr>
              <a:t>✅  배송 완료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383280" y="617220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E6B7B"/>
                </a:solidFill>
                <a:latin typeface="Malgun Gothic"/>
              </a:rPr>
              <a:t>2026-05-10 11:30 수령 완료 확인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F33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736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91440" cy="6858000"/>
          </a:xfrm>
          <a:prstGeom prst="rect">
            <a:avLst/>
          </a:prstGeom>
          <a:solidFill>
            <a:srgbClr val="9E9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Malgun Gothic"/>
              </a:rPr>
              <a:t>CE-ADMIN PoC 시연 완료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ABF8"/>
                </a:solidFill>
                <a:latin typeface="Malgun Gothic"/>
              </a:rPr>
              <a:t>처방전 등록 → AI OCR → 수기검증 → 제품조회 → 주문 → 영수증/세금계산서/팩스 → 배송완료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291840"/>
            <a:ext cx="4572000" cy="45720"/>
          </a:xfrm>
          <a:prstGeom prst="rect">
            <a:avLst/>
          </a:prstGeom>
          <a:solidFill>
            <a:srgbClr val="736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566160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8C76F"/>
                </a:solidFill>
                <a:latin typeface="Malgun Gothic"/>
              </a:rPr>
              <a:t>✅  모바일 처방전 등록 + AI OCR 자동 판독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950208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8C76F"/>
                </a:solidFill>
                <a:latin typeface="Malgun Gothic"/>
              </a:rPr>
              <a:t>✅  수기 검증 및 주소/제품 입력 관리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334256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8C76F"/>
                </a:solidFill>
                <a:latin typeface="Malgun Gothic"/>
              </a:rPr>
              <a:t>✅  TodoWorks 판매주문 API 실시간 연동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718304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8C76F"/>
                </a:solidFill>
                <a:latin typeface="Malgun Gothic"/>
              </a:rPr>
              <a:t>✅  Popbill 현금영수증 / 세금계산서 / 팩스 API 연동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102352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9F43"/>
                </a:solidFill>
                <a:latin typeface="Malgun Gothic"/>
              </a:rPr>
              <a:t>⚠️  입금 확인 기능 — 연계 준비중 (예정: 2026 Q3)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486400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8C76F"/>
                </a:solidFill>
                <a:latin typeface="Malgun Gothic"/>
              </a:rPr>
              <a:t>✅  주문 생성부터 배송완료까지 전 흐름 추적 가능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60350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Malgun Gothic"/>
              </a:rPr>
              <a:t>감사합니다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