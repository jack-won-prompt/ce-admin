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736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교환ㆍ반품 2중 결재 — 기능 기획(안)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DEBFD"/>
                </a:solidFill>
                <a:latin typeface="Malgun Gothic"/>
              </a:rPr>
              <a:t>돈이 움직이는 건은 책임자가 보고, 최종승인자가 서명해야 실행되도록 만듭니다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484632"/>
            <a:ext cx="27249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>
                <a:solidFill>
                  <a:srgbClr val="EDEBFD"/>
                </a:solidFill>
                <a:latin typeface="Malgun Gothic"/>
              </a:rPr>
              <a:t>2026-09-28 · CE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32688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5E57C8"/>
                </a:solidFill>
                <a:latin typeface="Malgun Gothic"/>
              </a:rPr>
              <a:t>프로세스 플로우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737360" cy="694944"/>
          </a:xfrm>
          <a:prstGeom prst="rect">
            <a:avLst/>
          </a:prstGeom>
          <a:solidFill>
            <a:srgbClr val="6E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창고 입고 검수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EDEBFD"/>
                </a:solidFill>
                <a:latin typeface="Malgun Gothic"/>
              </a:rPr>
              <a:t>3PL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57984" y="1426464"/>
            <a:ext cx="1463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9A97A6"/>
                </a:solidFill>
                <a:latin typeface="Malgun Gothic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3432" y="1207008"/>
            <a:ext cx="1737360" cy="694944"/>
          </a:xfrm>
          <a:prstGeom prst="rect">
            <a:avLst/>
          </a:prstGeom>
          <a:solidFill>
            <a:srgbClr val="0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32588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검수 승인 요청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4872" y="160020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EDEBFD"/>
                </a:solidFill>
                <a:latin typeface="Malgun Gothic"/>
              </a:rPr>
              <a:t>위드웍스 → CE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935" y="1426464"/>
            <a:ext cx="1463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9A97A6"/>
                </a:solidFill>
                <a:latin typeface="Malgun Gothic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15384" y="1207008"/>
            <a:ext cx="1737360" cy="694944"/>
          </a:xfrm>
          <a:prstGeom prst="rect">
            <a:avLst/>
          </a:prstGeom>
          <a:solidFill>
            <a:srgbClr val="736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132588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책임자 검수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6824" y="160020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EDEBFD"/>
                </a:solidFill>
                <a:latin typeface="Malgun Gothic"/>
              </a:rPr>
              <a:t>책임자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1426464"/>
            <a:ext cx="1463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9A97A6"/>
                </a:solidFill>
                <a:latin typeface="Malgun Gothic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17336" y="1207008"/>
            <a:ext cx="1737360" cy="694944"/>
          </a:xfrm>
          <a:prstGeom prst="rect">
            <a:avLst/>
          </a:prstGeom>
          <a:solidFill>
            <a:srgbClr val="5E5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8776" y="132588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최종승인자 서명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160020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EDEBFD"/>
                </a:solidFill>
                <a:latin typeface="Malgun Gothic"/>
              </a:rPr>
              <a:t>최종승인자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426464"/>
            <a:ext cx="1463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9A97A6"/>
                </a:solidFill>
                <a:latin typeface="Malgun Gothic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19288" y="1207008"/>
            <a:ext cx="1737360" cy="694944"/>
          </a:xfrm>
          <a:prstGeom prst="rect">
            <a:avLst/>
          </a:prstGeom>
          <a:solidFill>
            <a:srgbClr val="1F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0727" y="132588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환불ㆍ차액 청구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7" y="160020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EDEBFD"/>
                </a:solidFill>
                <a:latin typeface="Malgun Gothic"/>
              </a:rPr>
              <a:t>토스페이먼츠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5792" y="1426464"/>
            <a:ext cx="1463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9A97A6"/>
                </a:solidFill>
                <a:latin typeface="Malgun Gothic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1240" y="1207008"/>
            <a:ext cx="1737360" cy="694944"/>
          </a:xfrm>
          <a:prstGeom prst="rect">
            <a:avLst/>
          </a:prstGeom>
          <a:solidFill>
            <a:srgbClr val="6E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132588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완료ㆍ재발송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160020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EDEBFD"/>
                </a:solidFill>
                <a:latin typeface="Malgun Gothic"/>
              </a:rPr>
              <a:t>Care team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15384" y="969264"/>
            <a:ext cx="1737360" cy="201168"/>
          </a:xfrm>
          <a:prstGeom prst="rect">
            <a:avLst/>
          </a:prstGeom>
          <a:solidFill>
            <a:srgbClr val="736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15384" y="98755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새로 만드는 자리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17336" y="969264"/>
            <a:ext cx="1737360" cy="201168"/>
          </a:xfrm>
          <a:prstGeom prst="rect">
            <a:avLst/>
          </a:prstGeom>
          <a:solidFill>
            <a:srgbClr val="5E5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17336" y="98755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새로 만드는 자리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1975104"/>
            <a:ext cx="113659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C03B3C"/>
                </a:solidFill>
                <a:latin typeface="Malgun Gothic"/>
              </a:rPr>
              <a:t>◀ 반려하면 창고로 반송하여 재검수를 요청합니다 — 책임자ㆍ최종승인자 어느 쪽에서든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2212848"/>
            <a:ext cx="113659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E6B7B"/>
                </a:solidFill>
                <a:latin typeface="Malgun Gothic"/>
              </a:rPr>
              <a:t>지금의 문제 — 검수 확정과 전자 승인이 권한 하나로 묶여 한 사람 손에서 끝납니다. 돌려줄 금액을 적는 사람과 승인하는 사람이 갈리지 않고, 창고가 청한 건과 우리가 옮긴 건도 섞입니다.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252374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5E57C8"/>
                </a:solidFill>
                <a:latin typeface="Malgun Gothic"/>
              </a:rPr>
              <a:t>화면 Layout 기획 — 교환/반품/취소 › 상세 › 「결재」 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2779776"/>
            <a:ext cx="7086600" cy="3895344"/>
          </a:xfrm>
          <a:prstGeom prst="rect">
            <a:avLst/>
          </a:prstGeom>
          <a:solidFill>
            <a:srgbClr val="FFFFFF"/>
          </a:solidFill>
          <a:ln w="15875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2779776"/>
            <a:ext cx="7086600" cy="274320"/>
          </a:xfrm>
          <a:prstGeom prst="rect">
            <a:avLst/>
          </a:prstGeom>
          <a:solidFill>
            <a:srgbClr val="F4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" y="2834640"/>
            <a:ext cx="683056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E6B7B"/>
                </a:solidFill>
                <a:latin typeface="Malgun Gothic"/>
              </a:rPr>
              <a:t>교환/반품/취소  ›  RN20260928xxxx  ·  반품 및 환불  ·  (E)○○○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3163824"/>
            <a:ext cx="7452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A97A6"/>
                </a:solidFill>
                <a:latin typeface="Malgun Gothic"/>
              </a:rPr>
              <a:t>신청 내용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2748" y="3163824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A97A6"/>
                </a:solidFill>
                <a:latin typeface="Malgun Gothic"/>
              </a:rPr>
              <a:t>환자 안내ㆍ환불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91740" y="3127248"/>
            <a:ext cx="484632" cy="237744"/>
          </a:xfrm>
          <a:prstGeom prst="rect">
            <a:avLst/>
          </a:prstGeom>
          <a:solidFill>
            <a:srgbClr val="736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91740" y="3163824"/>
            <a:ext cx="48463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결재</a:t>
            </a:r>
          </a:p>
        </p:txBody>
      </p:sp>
      <p:sp>
        <p:nvSpPr>
          <p:cNvPr id="44" name="Oval 43"/>
          <p:cNvSpPr/>
          <p:nvPr/>
        </p:nvSpPr>
        <p:spPr>
          <a:xfrm>
            <a:off x="2903220" y="3044952"/>
            <a:ext cx="219456" cy="219456"/>
          </a:xfrm>
          <a:prstGeom prst="ellipse">
            <a:avLst/>
          </a:prstGeom>
          <a:solidFill>
            <a:srgbClr val="736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03220" y="306324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9524" y="3163824"/>
            <a:ext cx="7452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A97A6"/>
                </a:solidFill>
                <a:latin typeface="Malgun Gothic"/>
              </a:rPr>
              <a:t>진행 단계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67911" y="3163824"/>
            <a:ext cx="7452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A97A6"/>
                </a:solidFill>
                <a:latin typeface="Malgun Gothic"/>
              </a:rPr>
              <a:t>반품 품목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6299" y="3163824"/>
            <a:ext cx="7452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A97A6"/>
                </a:solidFill>
                <a:latin typeface="Malgun Gothic"/>
              </a:rPr>
              <a:t>발행ㆍ연계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04687" y="3163824"/>
            <a:ext cx="7452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A97A6"/>
                </a:solidFill>
                <a:latin typeface="Malgun Gothic"/>
              </a:rPr>
              <a:t>처리 이력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3493008"/>
            <a:ext cx="41605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4088" y="356616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F3349"/>
                </a:solidFill>
                <a:latin typeface="Malgun Gothic"/>
              </a:rPr>
              <a:t>창고 검수 요청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56231" y="3566160"/>
            <a:ext cx="585216" cy="182880"/>
          </a:xfrm>
          <a:prstGeom prst="rect">
            <a:avLst/>
          </a:prstGeom>
          <a:solidFill>
            <a:srgbClr val="C03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56231" y="3584448"/>
            <a:ext cx="58521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확인 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" y="3794760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6E6B7B"/>
                </a:solidFill>
                <a:latin typeface="Malgun Gothic"/>
              </a:rPr>
              <a:t>요청 일시 2026-09-28 20:05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51760" y="3749040"/>
            <a:ext cx="10058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51760" y="3781044"/>
            <a:ext cx="1005840" cy="182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F3349"/>
                </a:solidFill>
                <a:latin typeface="Malgun Gothic"/>
              </a:rPr>
              <a:t>요청 내용 보기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12464" y="3749040"/>
            <a:ext cx="932688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12464" y="3781044"/>
            <a:ext cx="932688" cy="182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F3349"/>
                </a:solidFill>
                <a:latin typeface="Malgun Gothic"/>
              </a:rPr>
              <a:t>확인했습니다</a:t>
            </a:r>
          </a:p>
        </p:txBody>
      </p:sp>
      <p:sp>
        <p:nvSpPr>
          <p:cNvPr id="59" name="Oval 58"/>
          <p:cNvSpPr/>
          <p:nvPr/>
        </p:nvSpPr>
        <p:spPr>
          <a:xfrm>
            <a:off x="475488" y="3639312"/>
            <a:ext cx="219456" cy="219456"/>
          </a:xfrm>
          <a:prstGeom prst="ellipse">
            <a:avLst/>
          </a:prstGeom>
          <a:solidFill>
            <a:srgbClr val="736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5488" y="365760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" y="4114800"/>
            <a:ext cx="4160520" cy="1371600"/>
          </a:xfrm>
          <a:prstGeom prst="rect">
            <a:avLst/>
          </a:prstGeom>
          <a:solidFill>
            <a:srgbClr val="FFFFFF"/>
          </a:solidFill>
          <a:ln w="13970">
            <a:solidFill>
              <a:srgbClr val="736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4088" y="419709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367F0"/>
                </a:solidFill>
                <a:latin typeface="Malgun Gothic"/>
              </a:rPr>
              <a:t>① 책임자 검수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51376" y="4197096"/>
            <a:ext cx="493776" cy="182880"/>
          </a:xfrm>
          <a:prstGeom prst="rect">
            <a:avLst/>
          </a:prstGeom>
          <a:solidFill>
            <a:srgbClr val="6E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51376" y="4215384"/>
            <a:ext cx="4937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대기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" y="4462272"/>
            <a:ext cx="6583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E6B7B"/>
                </a:solidFill>
                <a:latin typeface="Malgun Gothic"/>
              </a:rPr>
              <a:t>검수 결과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62456" y="4462272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2F3349"/>
                </a:solidFill>
                <a:latin typeface="Malgun Gothic"/>
              </a:rPr>
              <a:t>○ 이상 없음        ◉ 하자ㆍ수량 차이</a:t>
            </a:r>
          </a:p>
        </p:txBody>
      </p:sp>
      <p:sp>
        <p:nvSpPr>
          <p:cNvPr id="67" name="Oval 66"/>
          <p:cNvSpPr/>
          <p:nvPr/>
        </p:nvSpPr>
        <p:spPr>
          <a:xfrm>
            <a:off x="3813048" y="4434840"/>
            <a:ext cx="219456" cy="219456"/>
          </a:xfrm>
          <a:prstGeom prst="ellipse">
            <a:avLst/>
          </a:prstGeom>
          <a:solidFill>
            <a:srgbClr val="736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13048" y="4453128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4088" y="472744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E6B7B"/>
                </a:solidFill>
                <a:latin typeface="Malgun Gothic"/>
              </a:rPr>
              <a:t>수량 차이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62456" y="4700016"/>
            <a:ext cx="107899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17320" y="4732020"/>
            <a:ext cx="9692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2F3349"/>
                </a:solidFill>
                <a:latin typeface="Malgun Gothic"/>
              </a:rPr>
              <a:t>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51176" y="472744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E6B7B"/>
                </a:solidFill>
                <a:latin typeface="Malgun Gothic"/>
              </a:rPr>
              <a:t>차감 금액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9544" y="4700016"/>
            <a:ext cx="107899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64408" y="4732020"/>
            <a:ext cx="9692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2F3349"/>
                </a:solidFill>
                <a:latin typeface="Malgun Gothic"/>
              </a:rPr>
              <a:t>3,000</a:t>
            </a:r>
          </a:p>
        </p:txBody>
      </p:sp>
      <p:sp>
        <p:nvSpPr>
          <p:cNvPr id="75" name="Oval 74"/>
          <p:cNvSpPr/>
          <p:nvPr/>
        </p:nvSpPr>
        <p:spPr>
          <a:xfrm>
            <a:off x="4379976" y="4681728"/>
            <a:ext cx="219456" cy="219456"/>
          </a:xfrm>
          <a:prstGeom prst="ellipse">
            <a:avLst/>
          </a:prstGeom>
          <a:solidFill>
            <a:srgbClr val="736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79976" y="470001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4088" y="4983480"/>
            <a:ext cx="6583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E6B7B"/>
                </a:solidFill>
                <a:latin typeface="Malgun Gothic"/>
              </a:rPr>
              <a:t>하자 내용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62456" y="4956048"/>
            <a:ext cx="3273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417320" y="4988052"/>
            <a:ext cx="31638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2F3349"/>
                </a:solidFill>
                <a:latin typeface="Malgun Gothic"/>
              </a:rPr>
              <a:t>포장 파손 20개 — 사용 불가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4088" y="5157216"/>
            <a:ext cx="2103120" cy="292608"/>
          </a:xfrm>
          <a:prstGeom prst="rect">
            <a:avLst/>
          </a:prstGeom>
          <a:solidFill>
            <a:srgbClr val="ED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58952" y="5189220"/>
            <a:ext cx="1993392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5E57C8"/>
                </a:solidFill>
                <a:latin typeface="Malgun Gothic"/>
              </a:rPr>
              <a:t>부분 환불 19,500원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8952" y="5317236"/>
            <a:ext cx="199339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>
                <a:solidFill>
                  <a:srgbClr val="6E6B7B"/>
                </a:solidFill>
                <a:latin typeface="Malgun Gothic"/>
              </a:rPr>
              <a:t>수납 22,500 − 차감 3,000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898648" y="5202936"/>
            <a:ext cx="960120" cy="219456"/>
          </a:xfrm>
          <a:prstGeom prst="rect">
            <a:avLst/>
          </a:prstGeom>
          <a:solidFill>
            <a:srgbClr val="7367F0"/>
          </a:solidFill>
          <a:ln w="9525">
            <a:solidFill>
              <a:srgbClr val="736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898648" y="5234940"/>
            <a:ext cx="960120" cy="182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책임자 승인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931920" y="5202936"/>
            <a:ext cx="704088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931920" y="5234940"/>
            <a:ext cx="704088" cy="182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F3349"/>
                </a:solidFill>
                <a:latin typeface="Malgun Gothic"/>
              </a:rPr>
              <a:t>반려</a:t>
            </a:r>
          </a:p>
        </p:txBody>
      </p:sp>
      <p:sp>
        <p:nvSpPr>
          <p:cNvPr id="87" name="Oval 86"/>
          <p:cNvSpPr/>
          <p:nvPr/>
        </p:nvSpPr>
        <p:spPr>
          <a:xfrm>
            <a:off x="4379976" y="5184648"/>
            <a:ext cx="219456" cy="219456"/>
          </a:xfrm>
          <a:prstGeom prst="ellipse">
            <a:avLst/>
          </a:prstGeom>
          <a:solidFill>
            <a:srgbClr val="736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379976" y="520293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" y="5596128"/>
            <a:ext cx="4160520" cy="1042415"/>
          </a:xfrm>
          <a:prstGeom prst="rect">
            <a:avLst/>
          </a:prstGeom>
          <a:solidFill>
            <a:srgbClr val="FFFFFF"/>
          </a:solidFill>
          <a:ln w="13970">
            <a:solidFill>
              <a:srgbClr val="5E5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4088" y="567842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E57C8"/>
                </a:solidFill>
                <a:latin typeface="Malgun Gothic"/>
              </a:rPr>
              <a:t>② 최종승인자 서명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005072" y="5678424"/>
            <a:ext cx="640080" cy="182880"/>
          </a:xfrm>
          <a:prstGeom prst="rect">
            <a:avLst/>
          </a:prstGeom>
          <a:solidFill>
            <a:srgbClr val="C27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005072" y="569671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서명 대기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4088" y="5907024"/>
            <a:ext cx="1920240" cy="402336"/>
          </a:xfrm>
          <a:prstGeom prst="rect">
            <a:avLst/>
          </a:prstGeom>
          <a:solidFill>
            <a:srgbClr val="ED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77240" y="5943600"/>
            <a:ext cx="177393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>
                <a:solidFill>
                  <a:srgbClr val="6E6B7B"/>
                </a:solidFill>
                <a:latin typeface="Malgun Gothic"/>
              </a:rPr>
              <a:t>환불 (고객에게 지급)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7240" y="6089904"/>
            <a:ext cx="17739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57C8"/>
                </a:solidFill>
                <a:latin typeface="Malgun Gothic"/>
              </a:rPr>
              <a:t>19,500원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15768" y="5907024"/>
            <a:ext cx="1920240" cy="402336"/>
          </a:xfrm>
          <a:prstGeom prst="rect">
            <a:avLst/>
          </a:prstGeom>
          <a:solidFill>
            <a:srgbClr val="F4F3F7"/>
          </a:solidFill>
          <a:ln w="9525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88920" y="5943600"/>
            <a:ext cx="177393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>
                <a:solidFill>
                  <a:srgbClr val="6E6B7B"/>
                </a:solidFill>
                <a:latin typeface="Malgun Gothic"/>
              </a:rPr>
              <a:t>차액 입금 (고객에게 청구)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88920" y="6108192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A97A6"/>
                </a:solidFill>
                <a:latin typeface="Malgun Gothic"/>
              </a:rPr>
              <a:t>해당 없음</a:t>
            </a:r>
          </a:p>
        </p:txBody>
      </p:sp>
      <p:sp>
        <p:nvSpPr>
          <p:cNvPr id="99" name="Oval 98"/>
          <p:cNvSpPr/>
          <p:nvPr/>
        </p:nvSpPr>
        <p:spPr>
          <a:xfrm>
            <a:off x="4489704" y="5888736"/>
            <a:ext cx="219456" cy="219456"/>
          </a:xfrm>
          <a:prstGeom prst="ellipse">
            <a:avLst/>
          </a:prstGeom>
          <a:solidFill>
            <a:srgbClr val="736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489704" y="590702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04088" y="6364224"/>
            <a:ext cx="1298448" cy="219456"/>
          </a:xfrm>
          <a:prstGeom prst="rect">
            <a:avLst/>
          </a:prstGeom>
          <a:solidFill>
            <a:srgbClr val="5E57C8"/>
          </a:solidFill>
          <a:ln w="9525">
            <a:solidFill>
              <a:srgbClr val="5E5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04088" y="6396228"/>
            <a:ext cx="1298448" cy="182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화면에서 서명 받기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075688" y="6364224"/>
            <a:ext cx="14630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75688" y="6396228"/>
            <a:ext cx="1463040" cy="182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F3349"/>
                </a:solidFill>
                <a:latin typeface="Malgun Gothic"/>
              </a:rPr>
              <a:t>서명 링크 문자 보내기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11879" y="6364224"/>
            <a:ext cx="6400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11879" y="6396228"/>
            <a:ext cx="640080" cy="182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F3349"/>
                </a:solidFill>
                <a:latin typeface="Malgun Gothic"/>
              </a:rPr>
              <a:t>반려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56048" y="3511296"/>
            <a:ext cx="239572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6E6B7B"/>
                </a:solidFill>
                <a:latin typeface="Malgun Gothic"/>
              </a:rPr>
              <a:t>［화면에서 서명 받기］를 누르면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956048" y="3657600"/>
            <a:ext cx="239572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6E6B7B"/>
                </a:solidFill>
                <a:latin typeface="Malgun Gothic"/>
              </a:rPr>
              <a:t>이 팝오버가 뜹니다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001768" y="3849624"/>
            <a:ext cx="2395728" cy="2670048"/>
          </a:xfrm>
          <a:prstGeom prst="rect">
            <a:avLst/>
          </a:prstGeom>
          <a:solidFill>
            <a:srgbClr val="C9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956048" y="3803904"/>
            <a:ext cx="2395728" cy="2670048"/>
          </a:xfrm>
          <a:prstGeom prst="rect">
            <a:avLst/>
          </a:prstGeom>
          <a:solidFill>
            <a:srgbClr val="FFFFFF"/>
          </a:solidFill>
          <a:ln w="15875">
            <a:solidFill>
              <a:srgbClr val="5E5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956048" y="3803904"/>
            <a:ext cx="2395728" cy="256032"/>
          </a:xfrm>
          <a:prstGeom prst="rect">
            <a:avLst/>
          </a:prstGeom>
          <a:solidFill>
            <a:srgbClr val="F4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065776" y="385419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2F3349"/>
                </a:solidFill>
                <a:latin typeface="Malgun Gothic"/>
              </a:rPr>
              <a:t>최종승인자 서명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040879" y="3854196"/>
            <a:ext cx="20116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E6B7B"/>
                </a:solidFill>
                <a:latin typeface="Malgun Gothic"/>
              </a:rPr>
              <a:t>✕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65776" y="4133088"/>
            <a:ext cx="7498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E6B7B"/>
                </a:solidFill>
                <a:latin typeface="Malgun Gothic"/>
              </a:rPr>
              <a:t>구분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815584" y="4133088"/>
            <a:ext cx="142646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2F3349"/>
                </a:solidFill>
                <a:latin typeface="Malgun Gothic"/>
              </a:rPr>
              <a:t>반품 및 환불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065776" y="4315968"/>
            <a:ext cx="7498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E6B7B"/>
                </a:solidFill>
                <a:latin typeface="Malgun Gothic"/>
              </a:rPr>
              <a:t>주문번호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815584" y="4315968"/>
            <a:ext cx="142646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2F3349"/>
                </a:solidFill>
                <a:latin typeface="Malgun Gothic"/>
              </a:rPr>
              <a:t>EUD20260926…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65776" y="4498848"/>
            <a:ext cx="7498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E6B7B"/>
                </a:solidFill>
                <a:latin typeface="Malgun Gothic"/>
              </a:rPr>
              <a:t>고객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815584" y="4498848"/>
            <a:ext cx="142646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2F3349"/>
                </a:solidFill>
                <a:latin typeface="Malgun Gothic"/>
              </a:rPr>
              <a:t>(E)○○○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065776" y="4681728"/>
            <a:ext cx="7498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E6B7B"/>
                </a:solidFill>
                <a:latin typeface="Malgun Gothic"/>
              </a:rPr>
              <a:t>입고 검수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815584" y="4681728"/>
            <a:ext cx="142646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2F3349"/>
                </a:solidFill>
                <a:latin typeface="Malgun Gothic"/>
              </a:rPr>
              <a:t>하자ㆍ수량 차이 · 20개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065776" y="4864608"/>
            <a:ext cx="7498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E6B7B"/>
                </a:solidFill>
                <a:latin typeface="Malgun Gothic"/>
              </a:rPr>
              <a:t>차감 금액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815584" y="4864608"/>
            <a:ext cx="142646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C03B3C"/>
                </a:solidFill>
                <a:latin typeface="Malgun Gothic"/>
              </a:rPr>
              <a:t>3,000원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065776" y="5047488"/>
            <a:ext cx="7498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E6B7B"/>
                </a:solidFill>
                <a:latin typeface="Malgun Gothic"/>
              </a:rPr>
              <a:t>책임자 승인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815584" y="5047488"/>
            <a:ext cx="142646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2F3349"/>
                </a:solidFill>
                <a:latin typeface="Malgun Gothic"/>
              </a:rPr>
              <a:t>○○○ 09-28 20:06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065776" y="5266944"/>
            <a:ext cx="1060704" cy="347472"/>
          </a:xfrm>
          <a:prstGeom prst="rect">
            <a:avLst/>
          </a:prstGeom>
          <a:solidFill>
            <a:srgbClr val="ED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102352" y="5294376"/>
            <a:ext cx="98755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1">
                <a:solidFill>
                  <a:srgbClr val="6E6B7B"/>
                </a:solidFill>
                <a:latin typeface="Malgun Gothic"/>
              </a:rPr>
              <a:t>환불 (지급)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102352" y="5422392"/>
            <a:ext cx="9875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E57C8"/>
                </a:solidFill>
                <a:latin typeface="Malgun Gothic"/>
              </a:rPr>
              <a:t>19,500원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181344" y="5266944"/>
            <a:ext cx="1060704" cy="347472"/>
          </a:xfrm>
          <a:prstGeom prst="rect">
            <a:avLst/>
          </a:prstGeom>
          <a:solidFill>
            <a:srgbClr val="F4F3F7"/>
          </a:solidFill>
          <a:ln w="9525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217920" y="5294376"/>
            <a:ext cx="98755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1">
                <a:solidFill>
                  <a:srgbClr val="6E6B7B"/>
                </a:solidFill>
                <a:latin typeface="Malgun Gothic"/>
              </a:rPr>
              <a:t>차액 입금 (청구)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17920" y="5431536"/>
            <a:ext cx="987552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9A97A6"/>
                </a:solidFill>
                <a:latin typeface="Malgun Gothic"/>
              </a:rPr>
              <a:t>해당 없음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065776" y="5650992"/>
            <a:ext cx="2176272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065776" y="5797296"/>
            <a:ext cx="2176272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9A97A6"/>
                </a:solidFill>
                <a:latin typeface="Malgun Gothic"/>
              </a:rPr>
              <a:t>서명판 — 화면을 터치하거나 마우스로</a:t>
            </a:r>
          </a:p>
        </p:txBody>
      </p:sp>
      <p:sp>
        <p:nvSpPr>
          <p:cNvPr id="134" name="Oval 133"/>
          <p:cNvSpPr/>
          <p:nvPr/>
        </p:nvSpPr>
        <p:spPr>
          <a:xfrm>
            <a:off x="7077455" y="5596128"/>
            <a:ext cx="219456" cy="219456"/>
          </a:xfrm>
          <a:prstGeom prst="ellipse">
            <a:avLst/>
          </a:prstGeom>
          <a:solidFill>
            <a:srgbClr val="736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077455" y="561441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065776" y="6126480"/>
            <a:ext cx="1097280" cy="201168"/>
          </a:xfrm>
          <a:prstGeom prst="rect">
            <a:avLst/>
          </a:prstGeom>
          <a:solidFill>
            <a:srgbClr val="5E57C8"/>
          </a:solidFill>
          <a:ln w="9525">
            <a:solidFill>
              <a:srgbClr val="5E5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065776" y="615848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서명하고 승인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236208" y="6126480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236208" y="6158484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2F3349"/>
                </a:solidFill>
                <a:latin typeface="Malgun Gothic"/>
              </a:rPr>
              <a:t>닫기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680960" y="2523744"/>
            <a:ext cx="40965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5E57C8"/>
                </a:solidFill>
                <a:latin typeface="Malgun Gothic"/>
              </a:rPr>
              <a:t>순서에 맞는 설명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680960" y="2779776"/>
            <a:ext cx="4096512" cy="3895344"/>
          </a:xfrm>
          <a:prstGeom prst="rect">
            <a:avLst/>
          </a:prstGeom>
          <a:solidFill>
            <a:srgbClr val="F4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7827264" y="2935224"/>
            <a:ext cx="219456" cy="219456"/>
          </a:xfrm>
          <a:prstGeom prst="ellipse">
            <a:avLst/>
          </a:prstGeom>
          <a:solidFill>
            <a:srgbClr val="736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827264" y="295351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119872" y="2926080"/>
            <a:ext cx="35112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F3349"/>
                </a:solidFill>
                <a:latin typeface="Malgun Gothic"/>
              </a:rPr>
              <a:t>「결재」 판을 새로 둡니다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119872" y="3136392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E6B7B"/>
                </a:solidFill>
                <a:latin typeface="Malgun Gothic"/>
              </a:rPr>
              <a:t>탭 일곱 가운데 셋째 — 진행 단계 앞에 둡니다.</a:t>
            </a:r>
          </a:p>
          <a:p>
            <a:pPr algn="l"/>
            <a:r>
              <a:rPr sz="850" b="0">
                <a:solidFill>
                  <a:srgbClr val="6E6B7B"/>
                </a:solidFill>
                <a:latin typeface="Malgun Gothic"/>
              </a:rPr>
              <a:t>단계를 옮기기 전에 결재가 끝나야 합니다</a:t>
            </a:r>
          </a:p>
        </p:txBody>
      </p:sp>
      <p:sp>
        <p:nvSpPr>
          <p:cNvPr id="146" name="Oval 145"/>
          <p:cNvSpPr/>
          <p:nvPr/>
        </p:nvSpPr>
        <p:spPr>
          <a:xfrm>
            <a:off x="7827264" y="3470148"/>
            <a:ext cx="219456" cy="219456"/>
          </a:xfrm>
          <a:prstGeom prst="ellipse">
            <a:avLst/>
          </a:prstGeom>
          <a:solidFill>
            <a:srgbClr val="736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827264" y="348843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119872" y="3461004"/>
            <a:ext cx="35112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F3349"/>
                </a:solidFill>
                <a:latin typeface="Malgun Gothic"/>
              </a:rPr>
              <a:t>창고가 청한 건을 가릅니다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119872" y="3671316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E6B7B"/>
                </a:solidFill>
                <a:latin typeface="Malgun Gothic"/>
              </a:rPr>
              <a:t>여태 「검수중」에 섞여 있었습니다. ［요청 내용 보기］로</a:t>
            </a:r>
          </a:p>
          <a:p>
            <a:pPr algn="l"/>
            <a:r>
              <a:rPr sz="850" b="0">
                <a:solidFill>
                  <a:srgbClr val="6E6B7B"/>
                </a:solidFill>
                <a:latin typeface="Malgun Gothic"/>
              </a:rPr>
              <a:t>웹훅 원문(받은 수량 / 보낸 수량)까지 팝오버로 봅니다</a:t>
            </a:r>
          </a:p>
        </p:txBody>
      </p:sp>
      <p:sp>
        <p:nvSpPr>
          <p:cNvPr id="150" name="Oval 149"/>
          <p:cNvSpPr/>
          <p:nvPr/>
        </p:nvSpPr>
        <p:spPr>
          <a:xfrm>
            <a:off x="7827264" y="4005072"/>
            <a:ext cx="219456" cy="219456"/>
          </a:xfrm>
          <a:prstGeom prst="ellipse">
            <a:avLst/>
          </a:prstGeom>
          <a:solidFill>
            <a:srgbClr val="736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827264" y="4023359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119872" y="3995928"/>
            <a:ext cx="35112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F3349"/>
                </a:solidFill>
                <a:latin typeface="Malgun Gothic"/>
              </a:rPr>
              <a:t>검수 결과가 경로를 가릅니다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119872" y="4206240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E6B7B"/>
                </a:solidFill>
                <a:latin typeface="Malgun Gothic"/>
              </a:rPr>
              <a:t>위드웍스가 보내면 미리 채우고,</a:t>
            </a:r>
          </a:p>
          <a:p>
            <a:pPr algn="l"/>
            <a:r>
              <a:rPr sz="850" b="0">
                <a:solidFill>
                  <a:srgbClr val="6E6B7B"/>
                </a:solidFill>
                <a:latin typeface="Malgun Gothic"/>
              </a:rPr>
              <a:t>보내지 않으면 책임자가 선택합니다</a:t>
            </a:r>
          </a:p>
        </p:txBody>
      </p:sp>
      <p:sp>
        <p:nvSpPr>
          <p:cNvPr id="154" name="Oval 153"/>
          <p:cNvSpPr/>
          <p:nvPr/>
        </p:nvSpPr>
        <p:spPr>
          <a:xfrm>
            <a:off x="7827264" y="4539996"/>
            <a:ext cx="219456" cy="219456"/>
          </a:xfrm>
          <a:prstGeom prst="ellipse">
            <a:avLst/>
          </a:prstGeom>
          <a:solidFill>
            <a:srgbClr val="736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827264" y="4558283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119872" y="4530852"/>
            <a:ext cx="35112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F3349"/>
                </a:solidFill>
                <a:latin typeface="Malgun Gothic"/>
              </a:rPr>
              <a:t>차감 금액이 여기서 굳습니다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119872" y="4741164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E6B7B"/>
                </a:solidFill>
                <a:latin typeface="Malgun Gothic"/>
              </a:rPr>
              <a:t>최종승인자가 서명할 숫자입니다.</a:t>
            </a:r>
          </a:p>
          <a:p>
            <a:pPr algn="l"/>
            <a:r>
              <a:rPr sz="850" b="0">
                <a:solidFill>
                  <a:srgbClr val="6E6B7B"/>
                </a:solidFill>
                <a:latin typeface="Malgun Gothic"/>
              </a:rPr>
              <a:t>하자가 있으면 반드시 입력하게 막습니다</a:t>
            </a:r>
          </a:p>
        </p:txBody>
      </p:sp>
      <p:sp>
        <p:nvSpPr>
          <p:cNvPr id="158" name="Oval 157"/>
          <p:cNvSpPr/>
          <p:nvPr/>
        </p:nvSpPr>
        <p:spPr>
          <a:xfrm>
            <a:off x="7827264" y="5074920"/>
            <a:ext cx="219456" cy="219456"/>
          </a:xfrm>
          <a:prstGeom prst="ellipse">
            <a:avLst/>
          </a:prstGeom>
          <a:solidFill>
            <a:srgbClr val="736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827264" y="5093207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119872" y="5065776"/>
            <a:ext cx="35112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F3349"/>
                </a:solidFill>
                <a:latin typeface="Malgun Gothic"/>
              </a:rPr>
              <a:t>승인ㆍ반려를 함께 둡니다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119872" y="5276088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E6B7B"/>
                </a:solidFill>
                <a:latin typeface="Malgun Gothic"/>
              </a:rPr>
              <a:t>승인하면 서명 걸음으로,</a:t>
            </a:r>
          </a:p>
          <a:p>
            <a:pPr algn="l"/>
            <a:r>
              <a:rPr sz="850" b="0">
                <a:solidFill>
                  <a:srgbClr val="6E6B7B"/>
                </a:solidFill>
                <a:latin typeface="Malgun Gothic"/>
              </a:rPr>
              <a:t>반려하면 창고로 반송합니다</a:t>
            </a:r>
          </a:p>
        </p:txBody>
      </p:sp>
      <p:sp>
        <p:nvSpPr>
          <p:cNvPr id="162" name="Oval 161"/>
          <p:cNvSpPr/>
          <p:nvPr/>
        </p:nvSpPr>
        <p:spPr>
          <a:xfrm>
            <a:off x="7827264" y="5609844"/>
            <a:ext cx="219456" cy="219456"/>
          </a:xfrm>
          <a:prstGeom prst="ellipse">
            <a:avLst/>
          </a:prstGeom>
          <a:solidFill>
            <a:srgbClr val="736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827264" y="5628131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119872" y="5600700"/>
            <a:ext cx="35112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F3349"/>
                </a:solidFill>
                <a:latin typeface="Malgun Gothic"/>
              </a:rPr>
              <a:t>환불과 차액 입금을 두 항목으로 가릅니다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119872" y="5811012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E6B7B"/>
                </a:solidFill>
                <a:latin typeface="Malgun Gothic"/>
              </a:rPr>
              <a:t>환불은 고객에게 지급, 차액 입금은 고객에게 청구.</a:t>
            </a:r>
          </a:p>
          <a:p>
            <a:pPr algn="l"/>
            <a:r>
              <a:rPr sz="850" b="0">
                <a:solidFill>
                  <a:srgbClr val="6E6B7B"/>
                </a:solidFill>
                <a:latin typeface="Malgun Gothic"/>
              </a:rPr>
              <a:t>한 칸에 담으면 어느 쪽인지 가릴 수 없습니다</a:t>
            </a:r>
          </a:p>
        </p:txBody>
      </p:sp>
      <p:sp>
        <p:nvSpPr>
          <p:cNvPr id="166" name="Oval 165"/>
          <p:cNvSpPr/>
          <p:nvPr/>
        </p:nvSpPr>
        <p:spPr>
          <a:xfrm>
            <a:off x="7827264" y="6144768"/>
            <a:ext cx="219456" cy="219456"/>
          </a:xfrm>
          <a:prstGeom prst="ellipse">
            <a:avLst/>
          </a:prstGeom>
          <a:solidFill>
            <a:srgbClr val="736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827264" y="6163055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119872" y="6135624"/>
            <a:ext cx="35112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F3349"/>
                </a:solidFill>
                <a:latin typeface="Malgun Gothic"/>
              </a:rPr>
              <a:t>서명은 팝오버에서 받습니다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119872" y="6345936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E6B7B"/>
                </a:solidFill>
                <a:latin typeface="Malgun Gothic"/>
              </a:rPr>
              <a:t>확인할 것과 금액을 한 자리에 모읍니다.</a:t>
            </a:r>
          </a:p>
          <a:p>
            <a:pPr algn="l"/>
            <a:r>
              <a:rPr sz="850" b="0">
                <a:solidFill>
                  <a:srgbClr val="6E6B7B"/>
                </a:solidFill>
                <a:latin typeface="Malgun Gothic"/>
              </a:rPr>
              <a:t>SMS 링크(24시간ㆍ한 번만)와 담는 자리는 하나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